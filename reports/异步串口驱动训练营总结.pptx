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12192000"/>
  <p:embeddedFontLst>
    <p:embeddedFont>
      <p:font typeface="Calibri" panose="020F0502020204030204"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3.jpeg"/><Relationship Id="rId1" Type="http://schemas.openxmlformats.org/officeDocument/2006/relationships/image" Target="../media/image12.jpe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5.jpeg"/><Relationship Id="rId1" Type="http://schemas.openxmlformats.org/officeDocument/2006/relationships/image" Target="../media/image14.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7.jpeg"/><Relationship Id="rId1" Type="http://schemas.openxmlformats.org/officeDocument/2006/relationships/image" Target="../media/image16.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4.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26.jpeg"/><Relationship Id="rId1" Type="http://schemas.openxmlformats.org/officeDocument/2006/relationships/image" Target="../media/image25.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3DE"/>
        </a:solidFill>
        <a:effectLst/>
      </p:bgPr>
    </p:bg>
    <p:spTree>
      <p:nvGrpSpPr>
        <p:cNvPr id="1" name=""/>
        <p:cNvGrpSpPr/>
        <p:nvPr/>
      </p:nvGrpSpPr>
      <p:grpSpPr>
        <a:xfrm>
          <a:off x="0" y="0"/>
          <a:ext cx="0" cy="0"/>
          <a:chOff x="0" y="0"/>
          <a:chExt cx="0" cy="0"/>
        </a:xfrm>
      </p:grpSpPr>
      <p:pic>
        <p:nvPicPr>
          <p:cNvPr id="2" name="Image 0" descr="https://kimi-img.moonshot.cn/pub/slides/slides_tmpl/image/25-08-27-20:04:33-d2nf8k98bjvh7rlj0a70.jpg"/>
          <p:cNvPicPr>
            <a:picLocks noChangeAspect="1"/>
          </p:cNvPicPr>
          <p:nvPr/>
        </p:nvPicPr>
        <p:blipFill>
          <a:blip r:embed="rId1"/>
          <a:stretch>
            <a:fillRect/>
          </a:stretch>
        </p:blipFill>
        <p:spPr>
          <a:xfrm>
            <a:off x="-71120" y="317"/>
            <a:ext cx="12263122" cy="6898006"/>
          </a:xfrm>
          <a:prstGeom prst="rect">
            <a:avLst/>
          </a:prstGeom>
        </p:spPr>
      </p:pic>
      <p:sp>
        <p:nvSpPr>
          <p:cNvPr id="3" name="Text 0"/>
          <p:cNvSpPr/>
          <p:nvPr/>
        </p:nvSpPr>
        <p:spPr>
          <a:xfrm>
            <a:off x="2167890" y="2344420"/>
            <a:ext cx="7124065" cy="922020"/>
          </a:xfrm>
          <a:prstGeom prst="rect">
            <a:avLst/>
          </a:prstGeom>
          <a:noFill/>
        </p:spPr>
        <p:txBody>
          <a:bodyPr wrap="square" lIns="91440" tIns="45720" rIns="91440" bIns="45720" rtlCol="0" anchor="t">
            <a:spAutoFit/>
          </a:bodyPr>
          <a:lstStyle/>
          <a:p>
            <a:pPr>
              <a:lnSpc>
                <a:spcPct val="100000"/>
              </a:lnSpc>
            </a:pPr>
            <a:r>
              <a:rPr lang="zh-CN" altLang="en-US" sz="5400" dirty="0">
                <a:solidFill>
                  <a:srgbClr val="6D7AAF"/>
                </a:solidFill>
                <a:latin typeface="MiSans" pitchFamily="34" charset="-122"/>
                <a:ea typeface="MiSans" pitchFamily="34" charset="-122"/>
                <a:cs typeface="MiSans" pitchFamily="34" charset="-120"/>
              </a:rPr>
              <a:t>操作系统四阶段</a:t>
            </a:r>
            <a:r>
              <a:rPr lang="en-US" sz="5400" dirty="0">
                <a:solidFill>
                  <a:srgbClr val="6D7AAF"/>
                </a:solidFill>
                <a:latin typeface="MiSans" pitchFamily="34" charset="-122"/>
                <a:ea typeface="MiSans" pitchFamily="34" charset="-122"/>
                <a:cs typeface="MiSans" pitchFamily="34" charset="-120"/>
              </a:rPr>
              <a:t>总结</a:t>
            </a:r>
            <a:endParaRPr lang="en-US" sz="1600" dirty="0"/>
          </a:p>
        </p:txBody>
      </p:sp>
      <p:sp>
        <p:nvSpPr>
          <p:cNvPr id="4" name="Text 1"/>
          <p:cNvSpPr/>
          <p:nvPr/>
        </p:nvSpPr>
        <p:spPr>
          <a:xfrm>
            <a:off x="7235190" y="4391660"/>
            <a:ext cx="4064000" cy="266065"/>
          </a:xfrm>
          <a:prstGeom prst="rect">
            <a:avLst/>
          </a:prstGeom>
          <a:noFill/>
        </p:spPr>
        <p:txBody>
          <a:bodyPr wrap="square" lIns="91440" tIns="45720" rIns="91440" bIns="45720" rtlCol="0" anchor="t">
            <a:spAutoFit/>
          </a:bodyPr>
          <a:lstStyle/>
          <a:p>
            <a:pPr>
              <a:lnSpc>
                <a:spcPct val="100000"/>
              </a:lnSpc>
            </a:pPr>
            <a:r>
              <a:rPr lang="en-US" sz="1800" dirty="0">
                <a:solidFill>
                  <a:srgbClr val="000000"/>
                </a:solidFill>
                <a:latin typeface="MiSans" pitchFamily="34" charset="-122"/>
                <a:ea typeface="MiSans" pitchFamily="34" charset="-122"/>
                <a:cs typeface="MiSans" pitchFamily="34" charset="-120"/>
              </a:rPr>
              <a:t> </a:t>
            </a:r>
            <a:endParaRPr lang="en-US" sz="1600" dirty="0"/>
          </a:p>
        </p:txBody>
      </p:sp>
      <p:sp>
        <p:nvSpPr>
          <p:cNvPr id="5" name="Shape 2"/>
          <p:cNvSpPr/>
          <p:nvPr/>
        </p:nvSpPr>
        <p:spPr>
          <a:xfrm>
            <a:off x="9158605" y="6381115"/>
            <a:ext cx="133350" cy="137160"/>
          </a:xfrm>
          <a:prstGeom prst="ellipse">
            <a:avLst/>
          </a:prstGeom>
          <a:solidFill>
            <a:srgbClr val="FFFFFF"/>
          </a:solidFill>
        </p:spPr>
      </p:sp>
      <p:sp>
        <p:nvSpPr>
          <p:cNvPr id="6" name="Shape 3"/>
          <p:cNvSpPr/>
          <p:nvPr/>
        </p:nvSpPr>
        <p:spPr>
          <a:xfrm>
            <a:off x="9358630" y="6381115"/>
            <a:ext cx="133350" cy="137160"/>
          </a:xfrm>
          <a:prstGeom prst="ellipse">
            <a:avLst/>
          </a:prstGeom>
          <a:solidFill>
            <a:srgbClr val="FFFFFF"/>
          </a:solidFill>
        </p:spPr>
      </p:sp>
      <p:sp>
        <p:nvSpPr>
          <p:cNvPr id="7" name="Shape 4"/>
          <p:cNvSpPr/>
          <p:nvPr/>
        </p:nvSpPr>
        <p:spPr>
          <a:xfrm>
            <a:off x="9558655" y="6381115"/>
            <a:ext cx="133350" cy="137160"/>
          </a:xfrm>
          <a:prstGeom prst="ellipse">
            <a:avLst/>
          </a:prstGeom>
          <a:solidFill>
            <a:srgbClr val="FFFFFF"/>
          </a:solidFill>
        </p:spPr>
      </p:sp>
      <p:sp>
        <p:nvSpPr>
          <p:cNvPr id="8" name="Shape 5"/>
          <p:cNvSpPr/>
          <p:nvPr/>
        </p:nvSpPr>
        <p:spPr>
          <a:xfrm>
            <a:off x="9758680" y="6381115"/>
            <a:ext cx="133350" cy="137160"/>
          </a:xfrm>
          <a:prstGeom prst="ellipse">
            <a:avLst/>
          </a:prstGeom>
          <a:solidFill>
            <a:srgbClr val="FFFFFF"/>
          </a:solidFill>
        </p:spPr>
      </p:sp>
      <p:sp>
        <p:nvSpPr>
          <p:cNvPr id="9" name="Shape 6"/>
          <p:cNvSpPr/>
          <p:nvPr/>
        </p:nvSpPr>
        <p:spPr>
          <a:xfrm>
            <a:off x="2426315" y="948853"/>
            <a:ext cx="133350" cy="137160"/>
          </a:xfrm>
          <a:prstGeom prst="ellipse">
            <a:avLst/>
          </a:prstGeom>
          <a:solidFill>
            <a:srgbClr val="FFFFFF"/>
          </a:solidFill>
        </p:spPr>
      </p:sp>
      <p:sp>
        <p:nvSpPr>
          <p:cNvPr id="10" name="Shape 7"/>
          <p:cNvSpPr/>
          <p:nvPr/>
        </p:nvSpPr>
        <p:spPr>
          <a:xfrm>
            <a:off x="2626340" y="948853"/>
            <a:ext cx="133350" cy="137160"/>
          </a:xfrm>
          <a:prstGeom prst="ellipse">
            <a:avLst/>
          </a:prstGeom>
          <a:solidFill>
            <a:srgbClr val="FFFFFF"/>
          </a:solidFill>
        </p:spPr>
      </p:sp>
      <p:sp>
        <p:nvSpPr>
          <p:cNvPr id="11" name="Shape 8"/>
          <p:cNvSpPr/>
          <p:nvPr/>
        </p:nvSpPr>
        <p:spPr>
          <a:xfrm>
            <a:off x="2826365" y="948853"/>
            <a:ext cx="133350" cy="137160"/>
          </a:xfrm>
          <a:prstGeom prst="ellipse">
            <a:avLst/>
          </a:prstGeom>
          <a:solidFill>
            <a:srgbClr val="FFFFFF"/>
          </a:solidFill>
        </p:spPr>
      </p:sp>
      <p:sp>
        <p:nvSpPr>
          <p:cNvPr id="12" name="Shape 9"/>
          <p:cNvSpPr/>
          <p:nvPr/>
        </p:nvSpPr>
        <p:spPr>
          <a:xfrm>
            <a:off x="3026390" y="948853"/>
            <a:ext cx="133350" cy="137160"/>
          </a:xfrm>
          <a:prstGeom prst="ellipse">
            <a:avLst/>
          </a:prstGeom>
          <a:solidFill>
            <a:srgbClr val="FFFFFF"/>
          </a:solidFill>
        </p:spPr>
      </p:sp>
      <p:sp>
        <p:nvSpPr>
          <p:cNvPr id="13" name="Text 10"/>
          <p:cNvSpPr/>
          <p:nvPr/>
        </p:nvSpPr>
        <p:spPr>
          <a:xfrm>
            <a:off x="2318365" y="3578388"/>
            <a:ext cx="4064000" cy="460375"/>
          </a:xfrm>
          <a:prstGeom prst="rect">
            <a:avLst/>
          </a:prstGeom>
          <a:noFill/>
        </p:spPr>
        <p:txBody>
          <a:bodyPr wrap="square" lIns="91440" tIns="45720" rIns="91440" bIns="45720" rtlCol="0" anchor="t">
            <a:spAutoFit/>
          </a:bodyPr>
          <a:lstStyle/>
          <a:p>
            <a:pPr>
              <a:lnSpc>
                <a:spcPct val="100000"/>
              </a:lnSpc>
            </a:pPr>
            <a:r>
              <a:rPr lang="zh-CN" altLang="en-US" sz="2400" dirty="0">
                <a:solidFill>
                  <a:srgbClr val="6D7AAF"/>
                </a:solidFill>
                <a:latin typeface="MiSans" pitchFamily="34" charset="-122"/>
                <a:ea typeface="MiSans" pitchFamily="34" charset="-122"/>
                <a:cs typeface="MiSans" pitchFamily="34" charset="-120"/>
              </a:rPr>
              <a:t>刘卫</a:t>
            </a:r>
            <a:endParaRPr lang="zh-CN" altLang="en-US" sz="2400" dirty="0">
              <a:solidFill>
                <a:srgbClr val="6D7AAF"/>
              </a:solidFill>
              <a:latin typeface="MiSans" pitchFamily="34" charset="-122"/>
              <a:ea typeface="MiSans" pitchFamily="34" charset="-122"/>
              <a:cs typeface="MiSans" pitchFamily="34" charset="-120"/>
            </a:endParaRPr>
          </a:p>
        </p:txBody>
      </p:sp>
      <p:sp>
        <p:nvSpPr>
          <p:cNvPr id="14" name="Text 11"/>
          <p:cNvSpPr/>
          <p:nvPr/>
        </p:nvSpPr>
        <p:spPr>
          <a:xfrm>
            <a:off x="2318365" y="4213388"/>
            <a:ext cx="3035935" cy="460375"/>
          </a:xfrm>
          <a:prstGeom prst="rect">
            <a:avLst/>
          </a:prstGeom>
          <a:noFill/>
        </p:spPr>
        <p:txBody>
          <a:bodyPr wrap="square" lIns="91440" tIns="45720" rIns="91440" bIns="45720" rtlCol="0" anchor="t">
            <a:spAutoFit/>
          </a:bodyPr>
          <a:lstStyle/>
          <a:p>
            <a:pPr>
              <a:lnSpc>
                <a:spcPct val="100000"/>
              </a:lnSpc>
            </a:pPr>
            <a:r>
              <a:rPr lang="en-US" sz="2400" dirty="0">
                <a:solidFill>
                  <a:srgbClr val="6D7AAF"/>
                </a:solidFill>
                <a:latin typeface="MiSans" pitchFamily="34" charset="-122"/>
                <a:ea typeface="MiSans" pitchFamily="34" charset="-122"/>
                <a:cs typeface="MiSans" pitchFamily="34" charset="-120"/>
              </a:rPr>
              <a:t>2026/06/17</a:t>
            </a:r>
            <a:endParaRPr lang="en-US" sz="1600" dirty="0"/>
          </a:p>
        </p:txBody>
      </p:sp>
      <p:pic>
        <p:nvPicPr>
          <p:cNvPr id="15" name="Image 1" descr="https://kimi-img.moonshot.cn/pub/slides/slides_tmpl/image/25-08-27-20:04:32-d2nf8k18bjvh7rlj0a60.png"/>
          <p:cNvPicPr>
            <a:picLocks noChangeAspect="1"/>
          </p:cNvPicPr>
          <p:nvPr/>
        </p:nvPicPr>
        <p:blipFill>
          <a:blip r:embed="rId2"/>
          <a:stretch>
            <a:fillRect/>
          </a:stretch>
        </p:blipFill>
        <p:spPr>
          <a:xfrm>
            <a:off x="492168" y="1412240"/>
            <a:ext cx="1320800" cy="1371600"/>
          </a:xfrm>
          <a:prstGeom prst="rect">
            <a:avLst/>
          </a:prstGeom>
        </p:spPr>
      </p:pic>
      <p:pic>
        <p:nvPicPr>
          <p:cNvPr id="16" name="Image 2" descr="https://kimi-img.moonshot.cn/pub/slides/slides_tmpl/image/25-08-27-20:04:32-d2nf8k18bjvh7rlj0a6g.png"/>
          <p:cNvPicPr>
            <a:picLocks noChangeAspect="1"/>
          </p:cNvPicPr>
          <p:nvPr/>
        </p:nvPicPr>
        <p:blipFill>
          <a:blip r:embed="rId3"/>
          <a:stretch>
            <a:fillRect/>
          </a:stretch>
        </p:blipFill>
        <p:spPr>
          <a:xfrm>
            <a:off x="10665946" y="4391660"/>
            <a:ext cx="983056" cy="907962"/>
          </a:xfrm>
          <a:prstGeom prst="rect">
            <a:avLst/>
          </a:prstGeom>
        </p:spPr>
      </p:pic>
      <p:sp>
        <p:nvSpPr>
          <p:cNvPr id="17" name="Shape 12"/>
          <p:cNvSpPr/>
          <p:nvPr/>
        </p:nvSpPr>
        <p:spPr>
          <a:xfrm>
            <a:off x="1273269" y="2275839"/>
            <a:ext cx="539750" cy="508001"/>
          </a:xfrm>
          <a:prstGeom prst="ellipse">
            <a:avLst/>
          </a:prstGeom>
          <a:solidFill>
            <a:srgbClr val="B2C4FF"/>
          </a:solidFill>
        </p:spPr>
      </p:sp>
      <p:pic>
        <p:nvPicPr>
          <p:cNvPr id="18" name="Image 3" descr="https://kimi-img.moonshot.cn/pub/slides/slides_tmpl/image/25-08-27-20:04:32-d2nf8k18bjvh7rlj0a60.png"/>
          <p:cNvPicPr>
            <a:picLocks noChangeAspect="1"/>
          </p:cNvPicPr>
          <p:nvPr/>
        </p:nvPicPr>
        <p:blipFill>
          <a:blip r:embed="rId2"/>
          <a:stretch>
            <a:fillRect/>
          </a:stretch>
        </p:blipFill>
        <p:spPr>
          <a:xfrm>
            <a:off x="10567925" y="5073480"/>
            <a:ext cx="731154" cy="676035"/>
          </a:xfrm>
          <a:prstGeom prst="rect">
            <a:avLst/>
          </a:prstGeom>
        </p:spPr>
      </p:pic>
      <p:sp>
        <p:nvSpPr>
          <p:cNvPr id="19" name="Shape 13"/>
          <p:cNvSpPr/>
          <p:nvPr/>
        </p:nvSpPr>
        <p:spPr>
          <a:xfrm>
            <a:off x="11511842" y="1219363"/>
            <a:ext cx="133350" cy="137160"/>
          </a:xfrm>
          <a:prstGeom prst="ellipse">
            <a:avLst/>
          </a:prstGeom>
          <a:solidFill>
            <a:srgbClr val="FFFFFF"/>
          </a:solidFill>
        </p:spPr>
      </p:sp>
      <p:sp>
        <p:nvSpPr>
          <p:cNvPr id="20" name="Shape 14"/>
          <p:cNvSpPr/>
          <p:nvPr/>
        </p:nvSpPr>
        <p:spPr>
          <a:xfrm>
            <a:off x="11511842" y="1019337"/>
            <a:ext cx="133350" cy="137160"/>
          </a:xfrm>
          <a:prstGeom prst="ellipse">
            <a:avLst/>
          </a:prstGeom>
          <a:solidFill>
            <a:srgbClr val="FFFFFF"/>
          </a:solidFill>
        </p:spPr>
      </p:sp>
      <p:sp>
        <p:nvSpPr>
          <p:cNvPr id="21" name="Shape 15"/>
          <p:cNvSpPr/>
          <p:nvPr/>
        </p:nvSpPr>
        <p:spPr>
          <a:xfrm>
            <a:off x="11511842" y="819312"/>
            <a:ext cx="133350" cy="137160"/>
          </a:xfrm>
          <a:prstGeom prst="ellipse">
            <a:avLst/>
          </a:prstGeom>
          <a:solidFill>
            <a:srgbClr val="FFFFFF"/>
          </a:solidFill>
        </p:spPr>
      </p:sp>
      <p:sp>
        <p:nvSpPr>
          <p:cNvPr id="22" name="Shape 16"/>
          <p:cNvSpPr/>
          <p:nvPr/>
        </p:nvSpPr>
        <p:spPr>
          <a:xfrm>
            <a:off x="11511842" y="619288"/>
            <a:ext cx="133350" cy="137160"/>
          </a:xfrm>
          <a:prstGeom prst="ellipse">
            <a:avLst/>
          </a:prstGeom>
          <a:solidFill>
            <a:srgbClr val="FFFFFF"/>
          </a:solidFill>
        </p:spPr>
      </p:sp>
      <p:sp>
        <p:nvSpPr>
          <p:cNvPr id="23" name="Shape 17"/>
          <p:cNvSpPr/>
          <p:nvPr/>
        </p:nvSpPr>
        <p:spPr>
          <a:xfrm>
            <a:off x="11511842" y="2012478"/>
            <a:ext cx="133350" cy="137160"/>
          </a:xfrm>
          <a:prstGeom prst="ellipse">
            <a:avLst/>
          </a:prstGeom>
          <a:solidFill>
            <a:srgbClr val="FFFFFF"/>
          </a:solidFill>
        </p:spPr>
      </p:sp>
      <p:sp>
        <p:nvSpPr>
          <p:cNvPr id="24" name="Shape 18"/>
          <p:cNvSpPr/>
          <p:nvPr/>
        </p:nvSpPr>
        <p:spPr>
          <a:xfrm>
            <a:off x="11511842" y="1812453"/>
            <a:ext cx="133350" cy="137160"/>
          </a:xfrm>
          <a:prstGeom prst="ellipse">
            <a:avLst/>
          </a:prstGeom>
          <a:solidFill>
            <a:srgbClr val="FFFFFF"/>
          </a:solidFill>
        </p:spPr>
      </p:sp>
      <p:sp>
        <p:nvSpPr>
          <p:cNvPr id="25" name="Shape 19"/>
          <p:cNvSpPr/>
          <p:nvPr/>
        </p:nvSpPr>
        <p:spPr>
          <a:xfrm>
            <a:off x="11511842" y="1612428"/>
            <a:ext cx="133350" cy="137160"/>
          </a:xfrm>
          <a:prstGeom prst="ellipse">
            <a:avLst/>
          </a:prstGeom>
          <a:solidFill>
            <a:srgbClr val="FFFFFF"/>
          </a:solidFill>
        </p:spPr>
      </p:sp>
      <p:sp>
        <p:nvSpPr>
          <p:cNvPr id="26" name="Shape 20"/>
          <p:cNvSpPr/>
          <p:nvPr/>
        </p:nvSpPr>
        <p:spPr>
          <a:xfrm>
            <a:off x="11511842" y="1412404"/>
            <a:ext cx="133350" cy="137160"/>
          </a:xfrm>
          <a:prstGeom prst="ellipse">
            <a:avLst/>
          </a:prstGeom>
          <a:solidFill>
            <a:srgbClr val="FFFFFF"/>
          </a:solidFill>
        </p:spPr>
      </p:sp>
      <p:sp>
        <p:nvSpPr>
          <p:cNvPr id="27" name="Shape 21"/>
          <p:cNvSpPr/>
          <p:nvPr/>
        </p:nvSpPr>
        <p:spPr>
          <a:xfrm>
            <a:off x="318177" y="5725159"/>
            <a:ext cx="133350" cy="137160"/>
          </a:xfrm>
          <a:prstGeom prst="ellipse">
            <a:avLst/>
          </a:prstGeom>
          <a:solidFill>
            <a:srgbClr val="FFFFFF"/>
          </a:solidFill>
        </p:spPr>
      </p:sp>
      <p:sp>
        <p:nvSpPr>
          <p:cNvPr id="28" name="Shape 22"/>
          <p:cNvSpPr/>
          <p:nvPr/>
        </p:nvSpPr>
        <p:spPr>
          <a:xfrm>
            <a:off x="318178" y="5525134"/>
            <a:ext cx="133350" cy="137160"/>
          </a:xfrm>
          <a:prstGeom prst="ellipse">
            <a:avLst/>
          </a:prstGeom>
          <a:solidFill>
            <a:srgbClr val="FFFFFF"/>
          </a:solidFill>
        </p:spPr>
      </p:sp>
      <p:sp>
        <p:nvSpPr>
          <p:cNvPr id="29" name="Shape 23"/>
          <p:cNvSpPr/>
          <p:nvPr/>
        </p:nvSpPr>
        <p:spPr>
          <a:xfrm>
            <a:off x="318178" y="5325109"/>
            <a:ext cx="133350" cy="137160"/>
          </a:xfrm>
          <a:prstGeom prst="ellipse">
            <a:avLst/>
          </a:prstGeom>
          <a:solidFill>
            <a:srgbClr val="FFFFFF"/>
          </a:solidFill>
        </p:spPr>
      </p:sp>
      <p:sp>
        <p:nvSpPr>
          <p:cNvPr id="30" name="Shape 24"/>
          <p:cNvSpPr/>
          <p:nvPr/>
        </p:nvSpPr>
        <p:spPr>
          <a:xfrm>
            <a:off x="318178" y="5125085"/>
            <a:ext cx="133350" cy="137160"/>
          </a:xfrm>
          <a:prstGeom prst="ellipse">
            <a:avLst/>
          </a:prstGeom>
          <a:solidFill>
            <a:srgbClr val="FFFFFF"/>
          </a:solidFill>
        </p:spPr>
      </p:sp>
      <p:sp>
        <p:nvSpPr>
          <p:cNvPr id="31" name="Shape 25"/>
          <p:cNvSpPr/>
          <p:nvPr/>
        </p:nvSpPr>
        <p:spPr>
          <a:xfrm>
            <a:off x="318177" y="6518275"/>
            <a:ext cx="133350" cy="137160"/>
          </a:xfrm>
          <a:prstGeom prst="ellipse">
            <a:avLst/>
          </a:prstGeom>
          <a:solidFill>
            <a:srgbClr val="FFFFFF"/>
          </a:solidFill>
        </p:spPr>
      </p:sp>
      <p:sp>
        <p:nvSpPr>
          <p:cNvPr id="32" name="Shape 26"/>
          <p:cNvSpPr/>
          <p:nvPr/>
        </p:nvSpPr>
        <p:spPr>
          <a:xfrm>
            <a:off x="318178" y="6318250"/>
            <a:ext cx="133350" cy="137160"/>
          </a:xfrm>
          <a:prstGeom prst="ellipse">
            <a:avLst/>
          </a:prstGeom>
          <a:solidFill>
            <a:srgbClr val="FFFFFF"/>
          </a:solidFill>
        </p:spPr>
      </p:sp>
      <p:sp>
        <p:nvSpPr>
          <p:cNvPr id="33" name="Shape 27"/>
          <p:cNvSpPr/>
          <p:nvPr/>
        </p:nvSpPr>
        <p:spPr>
          <a:xfrm>
            <a:off x="318178" y="6118225"/>
            <a:ext cx="133350" cy="137160"/>
          </a:xfrm>
          <a:prstGeom prst="ellipse">
            <a:avLst/>
          </a:prstGeom>
          <a:solidFill>
            <a:srgbClr val="FFFFFF"/>
          </a:solidFill>
        </p:spPr>
      </p:sp>
      <p:sp>
        <p:nvSpPr>
          <p:cNvPr id="34" name="Shape 28"/>
          <p:cNvSpPr/>
          <p:nvPr/>
        </p:nvSpPr>
        <p:spPr>
          <a:xfrm>
            <a:off x="318178" y="5918201"/>
            <a:ext cx="133350" cy="137160"/>
          </a:xfrm>
          <a:prstGeom prst="ellipse">
            <a:avLst/>
          </a:prstGeom>
          <a:solidFill>
            <a:srgbClr val="FFFFFF"/>
          </a:solidFill>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74000">
              <a:srgbClr val="C7D5FC"/>
            </a:gs>
            <a:gs pos="83000">
              <a:srgbClr val="D8E1FD"/>
            </a:gs>
            <a:gs pos="100000">
              <a:srgbClr val="D8E1FD"/>
            </a:gs>
          </a:gsLst>
          <a:path path="circle">
            <a:fillToRect l="100000" t="100000"/>
          </a:path>
        </a:gradFill>
        <a:effectLst/>
      </p:bgPr>
    </p:bg>
    <p:spTree>
      <p:nvGrpSpPr>
        <p:cNvPr id="1" name=""/>
        <p:cNvGrpSpPr/>
        <p:nvPr/>
      </p:nvGrpSpPr>
      <p:grpSpPr>
        <a:xfrm>
          <a:off x="0" y="0"/>
          <a:ext cx="0" cy="0"/>
          <a:chOff x="0" y="0"/>
          <a:chExt cx="0" cy="0"/>
        </a:xfrm>
      </p:grpSpPr>
      <p:sp>
        <p:nvSpPr>
          <p:cNvPr id="2" name="Shape 0"/>
          <p:cNvSpPr/>
          <p:nvPr/>
        </p:nvSpPr>
        <p:spPr>
          <a:xfrm>
            <a:off x="2724336" y="4375004"/>
            <a:ext cx="133350" cy="137160"/>
          </a:xfrm>
          <a:prstGeom prst="ellipse">
            <a:avLst/>
          </a:prstGeom>
          <a:solidFill>
            <a:srgbClr val="FFFFFF"/>
          </a:solidFill>
        </p:spPr>
      </p:sp>
      <p:sp>
        <p:nvSpPr>
          <p:cNvPr id="3" name="Shape 1"/>
          <p:cNvSpPr/>
          <p:nvPr/>
        </p:nvSpPr>
        <p:spPr>
          <a:xfrm>
            <a:off x="2924361" y="4375004"/>
            <a:ext cx="133350" cy="137160"/>
          </a:xfrm>
          <a:prstGeom prst="ellipse">
            <a:avLst/>
          </a:prstGeom>
          <a:solidFill>
            <a:srgbClr val="FFFFFF"/>
          </a:solidFill>
        </p:spPr>
      </p:sp>
      <p:sp>
        <p:nvSpPr>
          <p:cNvPr id="4" name="Shape 2"/>
          <p:cNvSpPr/>
          <p:nvPr/>
        </p:nvSpPr>
        <p:spPr>
          <a:xfrm>
            <a:off x="3124386" y="4375004"/>
            <a:ext cx="133350" cy="137160"/>
          </a:xfrm>
          <a:prstGeom prst="ellipse">
            <a:avLst/>
          </a:prstGeom>
          <a:solidFill>
            <a:srgbClr val="FFFFFF"/>
          </a:solidFill>
        </p:spPr>
      </p:sp>
      <p:sp>
        <p:nvSpPr>
          <p:cNvPr id="5" name="Shape 3"/>
          <p:cNvSpPr/>
          <p:nvPr/>
        </p:nvSpPr>
        <p:spPr>
          <a:xfrm>
            <a:off x="3324411" y="4375004"/>
            <a:ext cx="133350" cy="137160"/>
          </a:xfrm>
          <a:prstGeom prst="ellipse">
            <a:avLst/>
          </a:prstGeom>
          <a:solidFill>
            <a:srgbClr val="FFFFFF"/>
          </a:solidFill>
        </p:spPr>
      </p:sp>
      <p:sp>
        <p:nvSpPr>
          <p:cNvPr id="6" name="Shape 4"/>
          <p:cNvSpPr/>
          <p:nvPr/>
        </p:nvSpPr>
        <p:spPr>
          <a:xfrm>
            <a:off x="5831910" y="1202223"/>
            <a:ext cx="133350" cy="137160"/>
          </a:xfrm>
          <a:prstGeom prst="ellipse">
            <a:avLst/>
          </a:prstGeom>
          <a:solidFill>
            <a:srgbClr val="FFFFFF"/>
          </a:solidFill>
        </p:spPr>
      </p:sp>
      <p:sp>
        <p:nvSpPr>
          <p:cNvPr id="7" name="Shape 5"/>
          <p:cNvSpPr/>
          <p:nvPr/>
        </p:nvSpPr>
        <p:spPr>
          <a:xfrm>
            <a:off x="6031935" y="1202223"/>
            <a:ext cx="133350" cy="137160"/>
          </a:xfrm>
          <a:prstGeom prst="ellipse">
            <a:avLst/>
          </a:prstGeom>
          <a:solidFill>
            <a:srgbClr val="FFFFFF"/>
          </a:solidFill>
        </p:spPr>
      </p:sp>
      <p:sp>
        <p:nvSpPr>
          <p:cNvPr id="8" name="Shape 6"/>
          <p:cNvSpPr/>
          <p:nvPr/>
        </p:nvSpPr>
        <p:spPr>
          <a:xfrm>
            <a:off x="6231960" y="1202223"/>
            <a:ext cx="133350" cy="137160"/>
          </a:xfrm>
          <a:prstGeom prst="ellipse">
            <a:avLst/>
          </a:prstGeom>
          <a:solidFill>
            <a:srgbClr val="FFFFFF"/>
          </a:solidFill>
        </p:spPr>
      </p:sp>
      <p:sp>
        <p:nvSpPr>
          <p:cNvPr id="9" name="Shape 7"/>
          <p:cNvSpPr/>
          <p:nvPr/>
        </p:nvSpPr>
        <p:spPr>
          <a:xfrm>
            <a:off x="6431985" y="1202223"/>
            <a:ext cx="133350" cy="137160"/>
          </a:xfrm>
          <a:prstGeom prst="ellipse">
            <a:avLst/>
          </a:prstGeom>
          <a:solidFill>
            <a:srgbClr val="FFFFFF"/>
          </a:solidFill>
        </p:spPr>
      </p:sp>
      <p:sp>
        <p:nvSpPr>
          <p:cNvPr id="10" name="Shape 8"/>
          <p:cNvSpPr/>
          <p:nvPr/>
        </p:nvSpPr>
        <p:spPr>
          <a:xfrm>
            <a:off x="5831923" y="3020777"/>
            <a:ext cx="133350" cy="137160"/>
          </a:xfrm>
          <a:prstGeom prst="ellipse">
            <a:avLst/>
          </a:prstGeom>
          <a:solidFill>
            <a:srgbClr val="FFFFFF"/>
          </a:solidFill>
        </p:spPr>
      </p:sp>
      <p:sp>
        <p:nvSpPr>
          <p:cNvPr id="11" name="Shape 9"/>
          <p:cNvSpPr/>
          <p:nvPr/>
        </p:nvSpPr>
        <p:spPr>
          <a:xfrm>
            <a:off x="6031948" y="3020777"/>
            <a:ext cx="133350" cy="137160"/>
          </a:xfrm>
          <a:prstGeom prst="ellipse">
            <a:avLst/>
          </a:prstGeom>
          <a:solidFill>
            <a:srgbClr val="FFFFFF"/>
          </a:solidFill>
        </p:spPr>
      </p:sp>
      <p:sp>
        <p:nvSpPr>
          <p:cNvPr id="12" name="Shape 10"/>
          <p:cNvSpPr/>
          <p:nvPr/>
        </p:nvSpPr>
        <p:spPr>
          <a:xfrm>
            <a:off x="6231973" y="3020777"/>
            <a:ext cx="133350" cy="137160"/>
          </a:xfrm>
          <a:prstGeom prst="ellipse">
            <a:avLst/>
          </a:prstGeom>
          <a:solidFill>
            <a:srgbClr val="FFFFFF"/>
          </a:solidFill>
        </p:spPr>
      </p:sp>
      <p:sp>
        <p:nvSpPr>
          <p:cNvPr id="13" name="Shape 11"/>
          <p:cNvSpPr/>
          <p:nvPr/>
        </p:nvSpPr>
        <p:spPr>
          <a:xfrm>
            <a:off x="6431998" y="3020777"/>
            <a:ext cx="133350" cy="137160"/>
          </a:xfrm>
          <a:prstGeom prst="ellipse">
            <a:avLst/>
          </a:prstGeom>
          <a:solidFill>
            <a:srgbClr val="FFFFFF"/>
          </a:solidFill>
        </p:spPr>
      </p:sp>
      <p:sp>
        <p:nvSpPr>
          <p:cNvPr id="14" name="Shape 12"/>
          <p:cNvSpPr/>
          <p:nvPr/>
        </p:nvSpPr>
        <p:spPr>
          <a:xfrm>
            <a:off x="9456625" y="2968495"/>
            <a:ext cx="133350" cy="137160"/>
          </a:xfrm>
          <a:prstGeom prst="ellipse">
            <a:avLst/>
          </a:prstGeom>
          <a:solidFill>
            <a:srgbClr val="FFFFFF"/>
          </a:solidFill>
        </p:spPr>
      </p:sp>
      <p:sp>
        <p:nvSpPr>
          <p:cNvPr id="15" name="Shape 13"/>
          <p:cNvSpPr/>
          <p:nvPr/>
        </p:nvSpPr>
        <p:spPr>
          <a:xfrm>
            <a:off x="9656650" y="2968495"/>
            <a:ext cx="133350" cy="137160"/>
          </a:xfrm>
          <a:prstGeom prst="ellipse">
            <a:avLst/>
          </a:prstGeom>
          <a:solidFill>
            <a:srgbClr val="FFFFFF"/>
          </a:solidFill>
        </p:spPr>
      </p:sp>
      <p:sp>
        <p:nvSpPr>
          <p:cNvPr id="16" name="Shape 14"/>
          <p:cNvSpPr/>
          <p:nvPr/>
        </p:nvSpPr>
        <p:spPr>
          <a:xfrm>
            <a:off x="9856675" y="2968495"/>
            <a:ext cx="133350" cy="137160"/>
          </a:xfrm>
          <a:prstGeom prst="ellipse">
            <a:avLst/>
          </a:prstGeom>
          <a:solidFill>
            <a:srgbClr val="FFFFFF"/>
          </a:solidFill>
        </p:spPr>
      </p:sp>
      <p:sp>
        <p:nvSpPr>
          <p:cNvPr id="17" name="Shape 15"/>
          <p:cNvSpPr/>
          <p:nvPr/>
        </p:nvSpPr>
        <p:spPr>
          <a:xfrm>
            <a:off x="10056700" y="2968495"/>
            <a:ext cx="133350" cy="137160"/>
          </a:xfrm>
          <a:prstGeom prst="ellipse">
            <a:avLst/>
          </a:prstGeom>
          <a:solidFill>
            <a:srgbClr val="FFFFFF"/>
          </a:solidFill>
        </p:spPr>
      </p:sp>
      <p:sp>
        <p:nvSpPr>
          <p:cNvPr id="18" name="Shape 16"/>
          <p:cNvSpPr/>
          <p:nvPr/>
        </p:nvSpPr>
        <p:spPr>
          <a:xfrm>
            <a:off x="9460361" y="1202223"/>
            <a:ext cx="133350" cy="137160"/>
          </a:xfrm>
          <a:prstGeom prst="ellipse">
            <a:avLst/>
          </a:prstGeom>
          <a:solidFill>
            <a:srgbClr val="FFFFFF"/>
          </a:solidFill>
        </p:spPr>
      </p:sp>
      <p:sp>
        <p:nvSpPr>
          <p:cNvPr id="19" name="Shape 17"/>
          <p:cNvSpPr/>
          <p:nvPr/>
        </p:nvSpPr>
        <p:spPr>
          <a:xfrm>
            <a:off x="9660386" y="1202223"/>
            <a:ext cx="133350" cy="137160"/>
          </a:xfrm>
          <a:prstGeom prst="ellipse">
            <a:avLst/>
          </a:prstGeom>
          <a:solidFill>
            <a:srgbClr val="FFFFFF"/>
          </a:solidFill>
        </p:spPr>
      </p:sp>
      <p:sp>
        <p:nvSpPr>
          <p:cNvPr id="20" name="Shape 18"/>
          <p:cNvSpPr/>
          <p:nvPr/>
        </p:nvSpPr>
        <p:spPr>
          <a:xfrm>
            <a:off x="9860411" y="1202223"/>
            <a:ext cx="133350" cy="137160"/>
          </a:xfrm>
          <a:prstGeom prst="ellipse">
            <a:avLst/>
          </a:prstGeom>
          <a:solidFill>
            <a:srgbClr val="FFFFFF"/>
          </a:solidFill>
        </p:spPr>
      </p:sp>
      <p:sp>
        <p:nvSpPr>
          <p:cNvPr id="21" name="Shape 19"/>
          <p:cNvSpPr/>
          <p:nvPr/>
        </p:nvSpPr>
        <p:spPr>
          <a:xfrm>
            <a:off x="10060436" y="1202223"/>
            <a:ext cx="133350" cy="137160"/>
          </a:xfrm>
          <a:prstGeom prst="ellipse">
            <a:avLst/>
          </a:prstGeom>
          <a:solidFill>
            <a:srgbClr val="FFFFFF"/>
          </a:solidFill>
        </p:spPr>
      </p:sp>
      <p:sp>
        <p:nvSpPr>
          <p:cNvPr id="22" name="Shape 20"/>
          <p:cNvSpPr/>
          <p:nvPr/>
        </p:nvSpPr>
        <p:spPr>
          <a:xfrm>
            <a:off x="1873023" y="4375004"/>
            <a:ext cx="133350" cy="137160"/>
          </a:xfrm>
          <a:prstGeom prst="ellipse">
            <a:avLst/>
          </a:prstGeom>
          <a:solidFill>
            <a:srgbClr val="FFFFFF"/>
          </a:solidFill>
        </p:spPr>
      </p:sp>
      <p:sp>
        <p:nvSpPr>
          <p:cNvPr id="23" name="Shape 21"/>
          <p:cNvSpPr/>
          <p:nvPr/>
        </p:nvSpPr>
        <p:spPr>
          <a:xfrm>
            <a:off x="2073048" y="4375004"/>
            <a:ext cx="133350" cy="137160"/>
          </a:xfrm>
          <a:prstGeom prst="ellipse">
            <a:avLst/>
          </a:prstGeom>
          <a:solidFill>
            <a:srgbClr val="FFFFFF"/>
          </a:solidFill>
        </p:spPr>
      </p:sp>
      <p:sp>
        <p:nvSpPr>
          <p:cNvPr id="24" name="Shape 22"/>
          <p:cNvSpPr/>
          <p:nvPr/>
        </p:nvSpPr>
        <p:spPr>
          <a:xfrm>
            <a:off x="2273073" y="4375004"/>
            <a:ext cx="133350" cy="137160"/>
          </a:xfrm>
          <a:prstGeom prst="ellipse">
            <a:avLst/>
          </a:prstGeom>
          <a:solidFill>
            <a:srgbClr val="FFFFFF"/>
          </a:solidFill>
        </p:spPr>
      </p:sp>
      <p:sp>
        <p:nvSpPr>
          <p:cNvPr id="25" name="Shape 23"/>
          <p:cNvSpPr/>
          <p:nvPr/>
        </p:nvSpPr>
        <p:spPr>
          <a:xfrm>
            <a:off x="2473098" y="4375004"/>
            <a:ext cx="133350" cy="137160"/>
          </a:xfrm>
          <a:prstGeom prst="ellipse">
            <a:avLst/>
          </a:prstGeom>
          <a:solidFill>
            <a:srgbClr val="FFFFFF"/>
          </a:solidFill>
        </p:spPr>
      </p:sp>
      <p:sp>
        <p:nvSpPr>
          <p:cNvPr id="26" name="Shape 24"/>
          <p:cNvSpPr/>
          <p:nvPr/>
        </p:nvSpPr>
        <p:spPr>
          <a:xfrm>
            <a:off x="5831910" y="4877944"/>
            <a:ext cx="133350" cy="137160"/>
          </a:xfrm>
          <a:prstGeom prst="ellipse">
            <a:avLst/>
          </a:prstGeom>
          <a:solidFill>
            <a:srgbClr val="FFFFFF"/>
          </a:solidFill>
        </p:spPr>
      </p:sp>
      <p:sp>
        <p:nvSpPr>
          <p:cNvPr id="27" name="Shape 25"/>
          <p:cNvSpPr/>
          <p:nvPr/>
        </p:nvSpPr>
        <p:spPr>
          <a:xfrm>
            <a:off x="6031935" y="4877944"/>
            <a:ext cx="133350" cy="137160"/>
          </a:xfrm>
          <a:prstGeom prst="ellipse">
            <a:avLst/>
          </a:prstGeom>
          <a:solidFill>
            <a:srgbClr val="FFFFFF"/>
          </a:solidFill>
        </p:spPr>
      </p:sp>
      <p:sp>
        <p:nvSpPr>
          <p:cNvPr id="28" name="Shape 26"/>
          <p:cNvSpPr/>
          <p:nvPr/>
        </p:nvSpPr>
        <p:spPr>
          <a:xfrm>
            <a:off x="6231960" y="4877944"/>
            <a:ext cx="133350" cy="137160"/>
          </a:xfrm>
          <a:prstGeom prst="ellipse">
            <a:avLst/>
          </a:prstGeom>
          <a:solidFill>
            <a:srgbClr val="FFFFFF"/>
          </a:solidFill>
        </p:spPr>
      </p:sp>
      <p:sp>
        <p:nvSpPr>
          <p:cNvPr id="29" name="Shape 27"/>
          <p:cNvSpPr/>
          <p:nvPr/>
        </p:nvSpPr>
        <p:spPr>
          <a:xfrm>
            <a:off x="6431985" y="4877944"/>
            <a:ext cx="133350" cy="137160"/>
          </a:xfrm>
          <a:prstGeom prst="ellipse">
            <a:avLst/>
          </a:prstGeom>
          <a:solidFill>
            <a:srgbClr val="FFFFFF"/>
          </a:solidFill>
        </p:spPr>
      </p:sp>
      <p:sp>
        <p:nvSpPr>
          <p:cNvPr id="30" name="Shape 28"/>
          <p:cNvSpPr/>
          <p:nvPr/>
        </p:nvSpPr>
        <p:spPr>
          <a:xfrm>
            <a:off x="1023882" y="995099"/>
            <a:ext cx="133350" cy="137160"/>
          </a:xfrm>
          <a:prstGeom prst="ellipse">
            <a:avLst/>
          </a:prstGeom>
          <a:solidFill>
            <a:srgbClr val="FFFFFF"/>
          </a:solidFill>
        </p:spPr>
      </p:sp>
      <p:sp>
        <p:nvSpPr>
          <p:cNvPr id="31" name="Shape 29"/>
          <p:cNvSpPr/>
          <p:nvPr/>
        </p:nvSpPr>
        <p:spPr>
          <a:xfrm>
            <a:off x="1223907" y="995099"/>
            <a:ext cx="133350" cy="137160"/>
          </a:xfrm>
          <a:prstGeom prst="ellipse">
            <a:avLst/>
          </a:prstGeom>
          <a:solidFill>
            <a:srgbClr val="FFFFFF"/>
          </a:solidFill>
        </p:spPr>
      </p:sp>
      <p:sp>
        <p:nvSpPr>
          <p:cNvPr id="32" name="Shape 30"/>
          <p:cNvSpPr/>
          <p:nvPr/>
        </p:nvSpPr>
        <p:spPr>
          <a:xfrm>
            <a:off x="1423932" y="995099"/>
            <a:ext cx="133350" cy="137160"/>
          </a:xfrm>
          <a:prstGeom prst="ellipse">
            <a:avLst/>
          </a:prstGeom>
          <a:solidFill>
            <a:srgbClr val="FFFFFF"/>
          </a:solidFill>
        </p:spPr>
      </p:sp>
      <p:sp>
        <p:nvSpPr>
          <p:cNvPr id="33" name="Shape 31"/>
          <p:cNvSpPr/>
          <p:nvPr/>
        </p:nvSpPr>
        <p:spPr>
          <a:xfrm>
            <a:off x="1623957" y="995099"/>
            <a:ext cx="133350" cy="137160"/>
          </a:xfrm>
          <a:prstGeom prst="ellipse">
            <a:avLst/>
          </a:prstGeom>
          <a:solidFill>
            <a:srgbClr val="FFFFFF"/>
          </a:solidFill>
        </p:spPr>
      </p:sp>
      <p:sp>
        <p:nvSpPr>
          <p:cNvPr id="34" name="Shape 32"/>
          <p:cNvSpPr/>
          <p:nvPr/>
        </p:nvSpPr>
        <p:spPr>
          <a:xfrm>
            <a:off x="820519" y="1735623"/>
            <a:ext cx="133350" cy="137160"/>
          </a:xfrm>
          <a:prstGeom prst="ellipse">
            <a:avLst/>
          </a:prstGeom>
          <a:solidFill>
            <a:srgbClr val="FFFFFF"/>
          </a:solidFill>
        </p:spPr>
      </p:sp>
      <p:sp>
        <p:nvSpPr>
          <p:cNvPr id="35" name="Shape 33"/>
          <p:cNvSpPr/>
          <p:nvPr/>
        </p:nvSpPr>
        <p:spPr>
          <a:xfrm>
            <a:off x="820519" y="1535597"/>
            <a:ext cx="133350" cy="137160"/>
          </a:xfrm>
          <a:prstGeom prst="ellipse">
            <a:avLst/>
          </a:prstGeom>
          <a:solidFill>
            <a:srgbClr val="FFFFFF"/>
          </a:solidFill>
        </p:spPr>
      </p:sp>
      <p:sp>
        <p:nvSpPr>
          <p:cNvPr id="36" name="Shape 34"/>
          <p:cNvSpPr/>
          <p:nvPr/>
        </p:nvSpPr>
        <p:spPr>
          <a:xfrm>
            <a:off x="820519" y="1335572"/>
            <a:ext cx="133350" cy="137160"/>
          </a:xfrm>
          <a:prstGeom prst="ellipse">
            <a:avLst/>
          </a:prstGeom>
          <a:solidFill>
            <a:srgbClr val="FFFFFF"/>
          </a:solidFill>
        </p:spPr>
      </p:sp>
      <p:sp>
        <p:nvSpPr>
          <p:cNvPr id="37" name="Shape 35"/>
          <p:cNvSpPr/>
          <p:nvPr/>
        </p:nvSpPr>
        <p:spPr>
          <a:xfrm>
            <a:off x="820520" y="1135548"/>
            <a:ext cx="133350" cy="137160"/>
          </a:xfrm>
          <a:prstGeom prst="ellipse">
            <a:avLst/>
          </a:prstGeom>
          <a:solidFill>
            <a:srgbClr val="FFFFFF"/>
          </a:solidFill>
        </p:spPr>
      </p:sp>
      <p:pic>
        <p:nvPicPr>
          <p:cNvPr id="38" name="Image 0" descr="https://kimi-img.moonshot.cn/pub/slides/slides_tmpl/image/25-08-27-20:04:32-d2nf8k18bjvh7rlj0a5g.png"/>
          <p:cNvPicPr>
            <a:picLocks noChangeAspect="1"/>
          </p:cNvPicPr>
          <p:nvPr/>
        </p:nvPicPr>
        <p:blipFill>
          <a:blip r:embed="rId1"/>
          <a:stretch>
            <a:fillRect/>
          </a:stretch>
        </p:blipFill>
        <p:spPr>
          <a:xfrm>
            <a:off x="805180" y="4587240"/>
            <a:ext cx="152400" cy="1524000"/>
          </a:xfrm>
          <a:prstGeom prst="rect">
            <a:avLst/>
          </a:prstGeom>
        </p:spPr>
      </p:pic>
      <p:sp>
        <p:nvSpPr>
          <p:cNvPr id="39" name="Shape 36"/>
          <p:cNvSpPr/>
          <p:nvPr/>
        </p:nvSpPr>
        <p:spPr>
          <a:xfrm>
            <a:off x="10527292" y="6404029"/>
            <a:ext cx="133350" cy="137160"/>
          </a:xfrm>
          <a:prstGeom prst="ellipse">
            <a:avLst/>
          </a:prstGeom>
          <a:solidFill>
            <a:srgbClr val="FFFFFF"/>
          </a:solidFill>
        </p:spPr>
      </p:sp>
      <p:sp>
        <p:nvSpPr>
          <p:cNvPr id="40" name="Shape 37"/>
          <p:cNvSpPr/>
          <p:nvPr/>
        </p:nvSpPr>
        <p:spPr>
          <a:xfrm>
            <a:off x="10727317" y="6404029"/>
            <a:ext cx="133350" cy="137160"/>
          </a:xfrm>
          <a:prstGeom prst="ellipse">
            <a:avLst/>
          </a:prstGeom>
          <a:solidFill>
            <a:srgbClr val="FFFFFF"/>
          </a:solidFill>
        </p:spPr>
      </p:sp>
      <p:sp>
        <p:nvSpPr>
          <p:cNvPr id="41" name="Shape 38"/>
          <p:cNvSpPr/>
          <p:nvPr/>
        </p:nvSpPr>
        <p:spPr>
          <a:xfrm>
            <a:off x="10927342" y="6404029"/>
            <a:ext cx="133350" cy="137160"/>
          </a:xfrm>
          <a:prstGeom prst="ellipse">
            <a:avLst/>
          </a:prstGeom>
          <a:solidFill>
            <a:srgbClr val="FFFFFF"/>
          </a:solidFill>
        </p:spPr>
      </p:sp>
      <p:sp>
        <p:nvSpPr>
          <p:cNvPr id="42" name="Shape 39"/>
          <p:cNvSpPr/>
          <p:nvPr/>
        </p:nvSpPr>
        <p:spPr>
          <a:xfrm>
            <a:off x="11127367" y="6404029"/>
            <a:ext cx="133350" cy="137160"/>
          </a:xfrm>
          <a:prstGeom prst="ellipse">
            <a:avLst/>
          </a:prstGeom>
          <a:solidFill>
            <a:srgbClr val="FFFFFF"/>
          </a:solidFill>
        </p:spPr>
      </p:sp>
      <p:sp>
        <p:nvSpPr>
          <p:cNvPr id="43" name="Shape 40"/>
          <p:cNvSpPr/>
          <p:nvPr/>
        </p:nvSpPr>
        <p:spPr>
          <a:xfrm>
            <a:off x="11336120" y="6541302"/>
            <a:ext cx="133350" cy="137160"/>
          </a:xfrm>
          <a:prstGeom prst="ellipse">
            <a:avLst/>
          </a:prstGeom>
          <a:solidFill>
            <a:srgbClr val="FFFFFF"/>
          </a:solidFill>
        </p:spPr>
      </p:sp>
      <p:sp>
        <p:nvSpPr>
          <p:cNvPr id="44" name="Shape 41"/>
          <p:cNvSpPr/>
          <p:nvPr/>
        </p:nvSpPr>
        <p:spPr>
          <a:xfrm>
            <a:off x="11336120" y="6341277"/>
            <a:ext cx="133350" cy="137160"/>
          </a:xfrm>
          <a:prstGeom prst="ellipse">
            <a:avLst/>
          </a:prstGeom>
          <a:solidFill>
            <a:srgbClr val="FFFFFF"/>
          </a:solidFill>
        </p:spPr>
      </p:sp>
      <p:sp>
        <p:nvSpPr>
          <p:cNvPr id="45" name="Shape 42"/>
          <p:cNvSpPr/>
          <p:nvPr/>
        </p:nvSpPr>
        <p:spPr>
          <a:xfrm>
            <a:off x="11336120" y="6141252"/>
            <a:ext cx="133350" cy="137160"/>
          </a:xfrm>
          <a:prstGeom prst="ellipse">
            <a:avLst/>
          </a:prstGeom>
          <a:solidFill>
            <a:srgbClr val="FFFFFF"/>
          </a:solidFill>
        </p:spPr>
      </p:sp>
      <p:sp>
        <p:nvSpPr>
          <p:cNvPr id="46" name="Shape 43"/>
          <p:cNvSpPr/>
          <p:nvPr/>
        </p:nvSpPr>
        <p:spPr>
          <a:xfrm>
            <a:off x="11336120" y="5941228"/>
            <a:ext cx="133350" cy="137160"/>
          </a:xfrm>
          <a:prstGeom prst="ellipse">
            <a:avLst/>
          </a:prstGeom>
          <a:solidFill>
            <a:srgbClr val="FFFFFF"/>
          </a:solidFill>
        </p:spPr>
      </p:sp>
      <p:pic>
        <p:nvPicPr>
          <p:cNvPr id="47" name="Image 1" descr="https://kimi-img.moonshot.cn/pub/slides/slides_tmpl/image/25-08-27-20:04:32-d2nf8k18bjvh7rlj0a60.png"/>
          <p:cNvPicPr>
            <a:picLocks noChangeAspect="1"/>
          </p:cNvPicPr>
          <p:nvPr/>
        </p:nvPicPr>
        <p:blipFill>
          <a:blip r:embed="rId2"/>
          <a:stretch>
            <a:fillRect/>
          </a:stretch>
        </p:blipFill>
        <p:spPr>
          <a:xfrm>
            <a:off x="9886204" y="4909876"/>
            <a:ext cx="1320800" cy="1371600"/>
          </a:xfrm>
          <a:prstGeom prst="rect">
            <a:avLst/>
          </a:prstGeom>
        </p:spPr>
      </p:pic>
      <p:pic>
        <p:nvPicPr>
          <p:cNvPr id="48" name="Image 2" descr="https://kimi-img.moonshot.cn/pub/slides/slides_tmpl/image/25-08-27-20:04:32-d2nf8k18bjvh7rlj0a6g.png"/>
          <p:cNvPicPr>
            <a:picLocks noChangeAspect="1"/>
          </p:cNvPicPr>
          <p:nvPr/>
        </p:nvPicPr>
        <p:blipFill>
          <a:blip r:embed="rId3"/>
          <a:stretch>
            <a:fillRect/>
          </a:stretch>
        </p:blipFill>
        <p:spPr>
          <a:xfrm>
            <a:off x="1356995" y="1202055"/>
            <a:ext cx="1041400" cy="962025"/>
          </a:xfrm>
          <a:prstGeom prst="rect">
            <a:avLst/>
          </a:prstGeom>
        </p:spPr>
      </p:pic>
      <p:sp>
        <p:nvSpPr>
          <p:cNvPr id="49" name="Shape 44"/>
          <p:cNvSpPr/>
          <p:nvPr/>
        </p:nvSpPr>
        <p:spPr>
          <a:xfrm>
            <a:off x="10762111" y="4770810"/>
            <a:ext cx="539750" cy="508001"/>
          </a:xfrm>
          <a:prstGeom prst="ellipse">
            <a:avLst/>
          </a:prstGeom>
          <a:solidFill>
            <a:srgbClr val="B2C4FF"/>
          </a:solidFill>
        </p:spPr>
      </p:sp>
      <p:pic>
        <p:nvPicPr>
          <p:cNvPr id="50" name="Image 3" descr="https://kimi-img.moonshot.cn/pub/slides/slides_tmpl/image/25-08-27-20:04:32-d2nf8k18bjvh7rlj0a60.png"/>
          <p:cNvPicPr>
            <a:picLocks noChangeAspect="1"/>
          </p:cNvPicPr>
          <p:nvPr/>
        </p:nvPicPr>
        <p:blipFill>
          <a:blip r:embed="rId2"/>
          <a:stretch>
            <a:fillRect/>
          </a:stretch>
        </p:blipFill>
        <p:spPr>
          <a:xfrm>
            <a:off x="1223866" y="1735624"/>
            <a:ext cx="731154" cy="676035"/>
          </a:xfrm>
          <a:prstGeom prst="rect">
            <a:avLst/>
          </a:prstGeom>
        </p:spPr>
      </p:pic>
      <p:sp>
        <p:nvSpPr>
          <p:cNvPr id="51" name="Text 45"/>
          <p:cNvSpPr/>
          <p:nvPr/>
        </p:nvSpPr>
        <p:spPr>
          <a:xfrm>
            <a:off x="1010920" y="2968625"/>
            <a:ext cx="3543935" cy="766524"/>
          </a:xfrm>
          <a:prstGeom prst="rect">
            <a:avLst/>
          </a:prstGeom>
          <a:noFill/>
        </p:spPr>
        <p:txBody>
          <a:bodyPr wrap="square" lIns="91440" tIns="45720" rIns="91440" bIns="45720" rtlCol="0" anchor="t">
            <a:spAutoFit/>
          </a:bodyPr>
          <a:lstStyle/>
          <a:p>
            <a:pPr>
              <a:lnSpc>
                <a:spcPct val="100000"/>
              </a:lnSpc>
            </a:pPr>
            <a:r>
              <a:rPr lang="en-US" sz="4400" b="1" dirty="0">
                <a:solidFill>
                  <a:srgbClr val="6D7ECC"/>
                </a:solidFill>
                <a:latin typeface="MiSans" pitchFamily="34" charset="-122"/>
                <a:ea typeface="MiSans" pitchFamily="34" charset="-122"/>
                <a:cs typeface="MiSans" pitchFamily="34" charset="-120"/>
              </a:rPr>
              <a:t>Contents</a:t>
            </a:r>
            <a:endParaRPr lang="en-US" sz="1600" dirty="0"/>
          </a:p>
        </p:txBody>
      </p:sp>
      <p:sp>
        <p:nvSpPr>
          <p:cNvPr id="52" name="Text 46"/>
          <p:cNvSpPr/>
          <p:nvPr/>
        </p:nvSpPr>
        <p:spPr>
          <a:xfrm>
            <a:off x="6670914" y="728660"/>
            <a:ext cx="1041400" cy="837565"/>
          </a:xfrm>
          <a:prstGeom prst="rect">
            <a:avLst/>
          </a:prstGeom>
          <a:noFill/>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122"/>
                <a:ea typeface="MiSans" pitchFamily="34" charset="-122"/>
                <a:cs typeface="MiSans" pitchFamily="34" charset="-120"/>
              </a:rPr>
              <a:t>01.</a:t>
            </a:r>
            <a:endParaRPr lang="en-US" sz="1600" dirty="0"/>
          </a:p>
        </p:txBody>
      </p:sp>
      <p:sp>
        <p:nvSpPr>
          <p:cNvPr id="53" name="Text 47"/>
          <p:cNvSpPr/>
          <p:nvPr/>
        </p:nvSpPr>
        <p:spPr>
          <a:xfrm>
            <a:off x="4100195" y="1610360"/>
            <a:ext cx="3578860" cy="459740"/>
          </a:xfrm>
          <a:prstGeom prst="rect">
            <a:avLst/>
          </a:prstGeom>
          <a:noFill/>
        </p:spPr>
        <p:txBody>
          <a:bodyPr wrap="square" lIns="91440" tIns="45720" rIns="91440" bIns="45720" rtlCol="0" anchor="ctr">
            <a:spAutoFit/>
          </a:bodyPr>
          <a:lstStyle/>
          <a:p>
            <a:pPr algn="r">
              <a:lnSpc>
                <a:spcPct val="100000"/>
              </a:lnSpc>
            </a:pPr>
            <a:r>
              <a:rPr lang="en-US" sz="2400" dirty="0">
                <a:solidFill>
                  <a:srgbClr val="6D7AAF"/>
                </a:solidFill>
                <a:latin typeface="MiSans" pitchFamily="34" charset="-122"/>
                <a:ea typeface="MiSans" pitchFamily="34" charset="-122"/>
                <a:cs typeface="MiSans" pitchFamily="34" charset="-120"/>
              </a:rPr>
              <a:t>项目背景与目标</a:t>
            </a:r>
            <a:endParaRPr lang="en-US" sz="1600" dirty="0"/>
          </a:p>
        </p:txBody>
      </p:sp>
      <p:sp>
        <p:nvSpPr>
          <p:cNvPr id="54" name="Text 48"/>
          <p:cNvSpPr/>
          <p:nvPr/>
        </p:nvSpPr>
        <p:spPr>
          <a:xfrm>
            <a:off x="10260460" y="728660"/>
            <a:ext cx="1418033" cy="837565"/>
          </a:xfrm>
          <a:prstGeom prst="rect">
            <a:avLst/>
          </a:prstGeom>
          <a:noFill/>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122"/>
                <a:ea typeface="MiSans" pitchFamily="34" charset="-122"/>
                <a:cs typeface="MiSans" pitchFamily="34" charset="-120"/>
              </a:rPr>
              <a:t>02.</a:t>
            </a:r>
            <a:endParaRPr lang="en-US" sz="1600" dirty="0"/>
          </a:p>
        </p:txBody>
      </p:sp>
      <p:sp>
        <p:nvSpPr>
          <p:cNvPr id="55" name="Text 49"/>
          <p:cNvSpPr/>
          <p:nvPr/>
        </p:nvSpPr>
        <p:spPr>
          <a:xfrm>
            <a:off x="8164830" y="1673225"/>
            <a:ext cx="3512820" cy="459740"/>
          </a:xfrm>
          <a:prstGeom prst="rect">
            <a:avLst/>
          </a:prstGeom>
          <a:noFill/>
        </p:spPr>
        <p:txBody>
          <a:bodyPr wrap="square" lIns="91440" tIns="45720" rIns="91440" bIns="45720" rtlCol="0" anchor="ctr">
            <a:spAutoFit/>
          </a:bodyPr>
          <a:lstStyle/>
          <a:p>
            <a:pPr algn="r">
              <a:lnSpc>
                <a:spcPct val="100000"/>
              </a:lnSpc>
            </a:pPr>
            <a:r>
              <a:rPr lang="en-US" sz="2400" dirty="0">
                <a:solidFill>
                  <a:srgbClr val="6D7ECC"/>
                </a:solidFill>
                <a:latin typeface="MiSans" pitchFamily="34" charset="-122"/>
                <a:ea typeface="MiSans" pitchFamily="34" charset="-122"/>
                <a:cs typeface="MiSans" pitchFamily="34" charset="-120"/>
              </a:rPr>
              <a:t>核心工作实现</a:t>
            </a:r>
            <a:endParaRPr lang="en-US" sz="1600" dirty="0"/>
          </a:p>
        </p:txBody>
      </p:sp>
      <p:sp>
        <p:nvSpPr>
          <p:cNvPr id="56" name="Text 50"/>
          <p:cNvSpPr/>
          <p:nvPr/>
        </p:nvSpPr>
        <p:spPr>
          <a:xfrm>
            <a:off x="6666865" y="2537460"/>
            <a:ext cx="1751965" cy="837565"/>
          </a:xfrm>
          <a:prstGeom prst="rect">
            <a:avLst/>
          </a:prstGeom>
          <a:noFill/>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122"/>
                <a:ea typeface="MiSans" pitchFamily="34" charset="-122"/>
                <a:cs typeface="MiSans" pitchFamily="34" charset="-120"/>
              </a:rPr>
              <a:t>03.</a:t>
            </a:r>
            <a:endParaRPr lang="en-US" sz="1600" dirty="0"/>
          </a:p>
        </p:txBody>
      </p:sp>
      <p:sp>
        <p:nvSpPr>
          <p:cNvPr id="57" name="Text 51"/>
          <p:cNvSpPr/>
          <p:nvPr/>
        </p:nvSpPr>
        <p:spPr>
          <a:xfrm>
            <a:off x="4100195" y="3418840"/>
            <a:ext cx="3608070" cy="459740"/>
          </a:xfrm>
          <a:prstGeom prst="rect">
            <a:avLst/>
          </a:prstGeom>
          <a:noFill/>
        </p:spPr>
        <p:txBody>
          <a:bodyPr wrap="square" lIns="91440" tIns="45720" rIns="91440" bIns="45720" rtlCol="0" anchor="ctr">
            <a:spAutoFit/>
          </a:bodyPr>
          <a:lstStyle/>
          <a:p>
            <a:pPr algn="r">
              <a:lnSpc>
                <a:spcPct val="100000"/>
              </a:lnSpc>
            </a:pPr>
            <a:r>
              <a:rPr lang="en-US" sz="2400" dirty="0">
                <a:solidFill>
                  <a:srgbClr val="6D7AAF"/>
                </a:solidFill>
                <a:latin typeface="MiSans" pitchFamily="34" charset="-122"/>
                <a:ea typeface="MiSans" pitchFamily="34" charset="-122"/>
                <a:cs typeface="MiSans" pitchFamily="34" charset="-120"/>
              </a:rPr>
              <a:t>量化成果展示</a:t>
            </a:r>
            <a:endParaRPr lang="en-US" sz="1600" dirty="0"/>
          </a:p>
        </p:txBody>
      </p:sp>
      <p:sp>
        <p:nvSpPr>
          <p:cNvPr id="58" name="Text 52"/>
          <p:cNvSpPr/>
          <p:nvPr/>
        </p:nvSpPr>
        <p:spPr>
          <a:xfrm>
            <a:off x="10260330" y="2537460"/>
            <a:ext cx="1668145" cy="837565"/>
          </a:xfrm>
          <a:prstGeom prst="rect">
            <a:avLst/>
          </a:prstGeom>
          <a:noFill/>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122"/>
                <a:ea typeface="MiSans" pitchFamily="34" charset="-122"/>
                <a:cs typeface="MiSans" pitchFamily="34" charset="-120"/>
              </a:rPr>
              <a:t>04.</a:t>
            </a:r>
            <a:endParaRPr lang="en-US" sz="1600" dirty="0"/>
          </a:p>
        </p:txBody>
      </p:sp>
      <p:sp>
        <p:nvSpPr>
          <p:cNvPr id="59" name="Text 53"/>
          <p:cNvSpPr/>
          <p:nvPr/>
        </p:nvSpPr>
        <p:spPr>
          <a:xfrm>
            <a:off x="8164830" y="3408680"/>
            <a:ext cx="3512820" cy="459740"/>
          </a:xfrm>
          <a:prstGeom prst="rect">
            <a:avLst/>
          </a:prstGeom>
          <a:noFill/>
        </p:spPr>
        <p:txBody>
          <a:bodyPr wrap="square" lIns="91440" tIns="45720" rIns="91440" bIns="45720" rtlCol="0" anchor="ctr">
            <a:spAutoFit/>
          </a:bodyPr>
          <a:lstStyle/>
          <a:p>
            <a:pPr algn="r">
              <a:lnSpc>
                <a:spcPct val="100000"/>
              </a:lnSpc>
            </a:pPr>
            <a:r>
              <a:rPr lang="en-US" sz="2400" dirty="0">
                <a:solidFill>
                  <a:srgbClr val="6D7AAF"/>
                </a:solidFill>
                <a:latin typeface="MiSans" pitchFamily="34" charset="-122"/>
                <a:ea typeface="MiSans" pitchFamily="34" charset="-122"/>
                <a:cs typeface="MiSans" pitchFamily="34" charset="-120"/>
              </a:rPr>
              <a:t>经验沉淀与复盘</a:t>
            </a:r>
            <a:endParaRPr lang="en-US" sz="1600" dirty="0"/>
          </a:p>
        </p:txBody>
      </p:sp>
      <p:sp>
        <p:nvSpPr>
          <p:cNvPr id="60" name="Text 54"/>
          <p:cNvSpPr/>
          <p:nvPr/>
        </p:nvSpPr>
        <p:spPr>
          <a:xfrm>
            <a:off x="6675755" y="4427220"/>
            <a:ext cx="1752600" cy="837565"/>
          </a:xfrm>
          <a:prstGeom prst="rect">
            <a:avLst/>
          </a:prstGeom>
          <a:noFill/>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122"/>
                <a:ea typeface="MiSans" pitchFamily="34" charset="-122"/>
                <a:cs typeface="MiSans" pitchFamily="34" charset="-120"/>
              </a:rPr>
              <a:t>05.</a:t>
            </a:r>
            <a:endParaRPr lang="en-US" sz="1600" dirty="0"/>
          </a:p>
        </p:txBody>
      </p:sp>
      <p:sp>
        <p:nvSpPr>
          <p:cNvPr id="61" name="Text 55"/>
          <p:cNvSpPr/>
          <p:nvPr/>
        </p:nvSpPr>
        <p:spPr>
          <a:xfrm>
            <a:off x="4137660" y="5234940"/>
            <a:ext cx="3608070" cy="459740"/>
          </a:xfrm>
          <a:prstGeom prst="rect">
            <a:avLst/>
          </a:prstGeom>
          <a:noFill/>
        </p:spPr>
        <p:txBody>
          <a:bodyPr wrap="square" lIns="91440" tIns="45720" rIns="91440" bIns="45720" rtlCol="0" anchor="ctr">
            <a:spAutoFit/>
          </a:bodyPr>
          <a:lstStyle/>
          <a:p>
            <a:pPr algn="r">
              <a:lnSpc>
                <a:spcPct val="100000"/>
              </a:lnSpc>
            </a:pPr>
            <a:r>
              <a:rPr lang="en-US" sz="2400" dirty="0">
                <a:solidFill>
                  <a:srgbClr val="6D7AAF"/>
                </a:solidFill>
                <a:latin typeface="MiSans" pitchFamily="34" charset="-122"/>
                <a:ea typeface="MiSans" pitchFamily="34" charset="-122"/>
                <a:cs typeface="MiSans" pitchFamily="34" charset="-120"/>
              </a:rPr>
              <a:t>设计模式与展望</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38-d2nf8lh8bjvh7rlj0aeg.png"/>
          <p:cNvPicPr>
            <a:picLocks noChangeAspect="1"/>
          </p:cNvPicPr>
          <p:nvPr/>
        </p:nvPicPr>
        <p:blipFill>
          <a:blip r:embed="rId1"/>
          <a:stretch>
            <a:fillRect/>
          </a:stretch>
        </p:blipFill>
        <p:spPr>
          <a:xfrm>
            <a:off x="4928399" y="517692"/>
            <a:ext cx="7251700" cy="6340308"/>
          </a:xfrm>
          <a:prstGeom prst="rect">
            <a:avLst/>
          </a:prstGeom>
        </p:spPr>
      </p:pic>
      <p:sp>
        <p:nvSpPr>
          <p:cNvPr id="3" name="Text 0"/>
          <p:cNvSpPr/>
          <p:nvPr/>
        </p:nvSpPr>
        <p:spPr>
          <a:xfrm>
            <a:off x="7048502" y="2308860"/>
            <a:ext cx="4599086" cy="3952042"/>
          </a:xfrm>
          <a:prstGeom prst="rect">
            <a:avLst/>
          </a:prstGeom>
          <a:noFill/>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122"/>
                <a:ea typeface="MiSans" pitchFamily="34" charset="-122"/>
                <a:cs typeface="MiSans" pitchFamily="34" charset="-120"/>
              </a:rPr>
              <a:t>01</a:t>
            </a:r>
            <a:endParaRPr lang="en-US" sz="1600" dirty="0"/>
          </a:p>
        </p:txBody>
      </p:sp>
      <p:sp>
        <p:nvSpPr>
          <p:cNvPr id="4" name="Text 1"/>
          <p:cNvSpPr/>
          <p:nvPr/>
        </p:nvSpPr>
        <p:spPr>
          <a:xfrm>
            <a:off x="797560" y="1932305"/>
            <a:ext cx="10755630" cy="714931"/>
          </a:xfrm>
          <a:prstGeom prst="rect">
            <a:avLst/>
          </a:prstGeom>
          <a:noFill/>
        </p:spPr>
        <p:txBody>
          <a:bodyPr wrap="square" lIns="91440" tIns="45720" rIns="91440" bIns="45720" rtlCol="0" anchor="ctr">
            <a:spAutoFit/>
          </a:bodyPr>
          <a:lstStyle/>
          <a:p>
            <a:pPr>
              <a:lnSpc>
                <a:spcPct val="100000"/>
              </a:lnSpc>
            </a:pPr>
            <a:r>
              <a:rPr lang="en-US" sz="4000" dirty="0">
                <a:solidFill>
                  <a:srgbClr val="6D7AAF"/>
                </a:solidFill>
                <a:latin typeface="MiSans" pitchFamily="34" charset="-122"/>
                <a:ea typeface="MiSans" pitchFamily="34" charset="-122"/>
                <a:cs typeface="MiSans" pitchFamily="34" charset="-120"/>
              </a:rPr>
              <a:t>项目背景与目标</a:t>
            </a:r>
            <a:endParaRPr lang="en-US" sz="1600" dirty="0"/>
          </a:p>
        </p:txBody>
      </p:sp>
      <p:sp>
        <p:nvSpPr>
          <p:cNvPr id="5" name="Shape 2"/>
          <p:cNvSpPr/>
          <p:nvPr/>
        </p:nvSpPr>
        <p:spPr>
          <a:xfrm>
            <a:off x="731049" y="856006"/>
            <a:ext cx="133350" cy="137160"/>
          </a:xfrm>
          <a:prstGeom prst="ellipse">
            <a:avLst/>
          </a:prstGeom>
          <a:solidFill>
            <a:srgbClr val="FFFFFF"/>
          </a:solidFill>
        </p:spPr>
      </p:sp>
      <p:sp>
        <p:nvSpPr>
          <p:cNvPr id="6" name="Shape 3"/>
          <p:cNvSpPr/>
          <p:nvPr/>
        </p:nvSpPr>
        <p:spPr>
          <a:xfrm>
            <a:off x="931074" y="856006"/>
            <a:ext cx="133350" cy="137160"/>
          </a:xfrm>
          <a:prstGeom prst="ellipse">
            <a:avLst/>
          </a:prstGeom>
          <a:solidFill>
            <a:srgbClr val="FFFFFF"/>
          </a:solidFill>
        </p:spPr>
      </p:sp>
      <p:sp>
        <p:nvSpPr>
          <p:cNvPr id="7" name="Shape 4"/>
          <p:cNvSpPr/>
          <p:nvPr/>
        </p:nvSpPr>
        <p:spPr>
          <a:xfrm>
            <a:off x="1131099" y="856006"/>
            <a:ext cx="133350" cy="137160"/>
          </a:xfrm>
          <a:prstGeom prst="ellipse">
            <a:avLst/>
          </a:prstGeom>
          <a:solidFill>
            <a:srgbClr val="FFFFFF"/>
          </a:solidFill>
        </p:spPr>
      </p:sp>
      <p:sp>
        <p:nvSpPr>
          <p:cNvPr id="8" name="Shape 5"/>
          <p:cNvSpPr/>
          <p:nvPr/>
        </p:nvSpPr>
        <p:spPr>
          <a:xfrm>
            <a:off x="1331124" y="856006"/>
            <a:ext cx="133350" cy="137160"/>
          </a:xfrm>
          <a:prstGeom prst="ellipse">
            <a:avLst/>
          </a:prstGeom>
          <a:solidFill>
            <a:srgbClr val="FFFFFF"/>
          </a:solidFill>
        </p:spPr>
      </p:sp>
      <p:sp>
        <p:nvSpPr>
          <p:cNvPr id="9" name="Shape 6"/>
          <p:cNvSpPr/>
          <p:nvPr/>
        </p:nvSpPr>
        <p:spPr>
          <a:xfrm>
            <a:off x="527687" y="1596530"/>
            <a:ext cx="133350" cy="137160"/>
          </a:xfrm>
          <a:prstGeom prst="ellipse">
            <a:avLst/>
          </a:prstGeom>
          <a:solidFill>
            <a:srgbClr val="FFFFFF"/>
          </a:solidFill>
        </p:spPr>
      </p:sp>
      <p:sp>
        <p:nvSpPr>
          <p:cNvPr id="10" name="Shape 7"/>
          <p:cNvSpPr/>
          <p:nvPr/>
        </p:nvSpPr>
        <p:spPr>
          <a:xfrm>
            <a:off x="527687" y="1396504"/>
            <a:ext cx="133350" cy="137160"/>
          </a:xfrm>
          <a:prstGeom prst="ellipse">
            <a:avLst/>
          </a:prstGeom>
          <a:solidFill>
            <a:srgbClr val="FFFFFF"/>
          </a:solidFill>
        </p:spPr>
      </p:sp>
      <p:sp>
        <p:nvSpPr>
          <p:cNvPr id="11" name="Shape 8"/>
          <p:cNvSpPr/>
          <p:nvPr/>
        </p:nvSpPr>
        <p:spPr>
          <a:xfrm>
            <a:off x="527687" y="1196479"/>
            <a:ext cx="133350" cy="137160"/>
          </a:xfrm>
          <a:prstGeom prst="ellipse">
            <a:avLst/>
          </a:prstGeom>
          <a:solidFill>
            <a:srgbClr val="FFFFFF"/>
          </a:solidFill>
        </p:spPr>
      </p:sp>
      <p:sp>
        <p:nvSpPr>
          <p:cNvPr id="12" name="Shape 9"/>
          <p:cNvSpPr/>
          <p:nvPr/>
        </p:nvSpPr>
        <p:spPr>
          <a:xfrm>
            <a:off x="527687" y="996455"/>
            <a:ext cx="133350" cy="137160"/>
          </a:xfrm>
          <a:prstGeom prst="ellipse">
            <a:avLst/>
          </a:prstGeom>
          <a:solidFill>
            <a:srgbClr val="FFFFFF"/>
          </a:solidFill>
        </p:spPr>
      </p:sp>
      <p:pic>
        <p:nvPicPr>
          <p:cNvPr id="13" name="Image 1" descr="https://kimi-img.moonshot.cn/pub/slides/slides_tmpl/image/25-08-27-20:04:34-d2nf8kh8bjvh7rlj0a80.png"/>
          <p:cNvPicPr>
            <a:picLocks noChangeAspect="1"/>
          </p:cNvPicPr>
          <p:nvPr/>
        </p:nvPicPr>
        <p:blipFill>
          <a:blip r:embed="rId2">
            <a:alphaModFix amt="59000"/>
          </a:blip>
          <a:stretch>
            <a:fillRect/>
          </a:stretch>
        </p:blipFill>
        <p:spPr>
          <a:xfrm>
            <a:off x="5131435" y="330200"/>
            <a:ext cx="7048500" cy="6197600"/>
          </a:xfrm>
          <a:prstGeom prst="rect">
            <a:avLst/>
          </a:prstGeom>
        </p:spPr>
      </p:pic>
      <p:pic>
        <p:nvPicPr>
          <p:cNvPr id="14" name="Image 2" descr="https://kimi-img.moonshot.cn/pub/slides/slides_tmpl/image/25-08-27-20:04:33-d2nf8k98bjvh7rlj0a7g.png"/>
          <p:cNvPicPr>
            <a:picLocks noChangeAspect="1"/>
          </p:cNvPicPr>
          <p:nvPr/>
        </p:nvPicPr>
        <p:blipFill>
          <a:blip r:embed="rId3"/>
          <a:stretch>
            <a:fillRect/>
          </a:stretch>
        </p:blipFill>
        <p:spPr>
          <a:xfrm>
            <a:off x="0" y="3797300"/>
            <a:ext cx="5143500" cy="3060700"/>
          </a:xfrm>
          <a:prstGeom prst="rect">
            <a:avLst/>
          </a:prstGeom>
        </p:spPr>
      </p:pic>
      <p:pic>
        <p:nvPicPr>
          <p:cNvPr id="15" name="Image 3" descr="https://kimi-img.moonshot.cn/pub/slides/slides_tmpl/image/25-08-27-20:04:32-d2nf8k18bjvh7rlj0a5g.png"/>
          <p:cNvPicPr>
            <a:picLocks noChangeAspect="1"/>
          </p:cNvPicPr>
          <p:nvPr/>
        </p:nvPicPr>
        <p:blipFill>
          <a:blip r:embed="rId4"/>
          <a:stretch>
            <a:fillRect/>
          </a:stretch>
        </p:blipFill>
        <p:spPr>
          <a:xfrm>
            <a:off x="512445" y="4587240"/>
            <a:ext cx="152400" cy="1524000"/>
          </a:xfrm>
          <a:prstGeom prst="rect">
            <a:avLst/>
          </a:prstGeom>
        </p:spPr>
      </p:pic>
      <p:pic>
        <p:nvPicPr>
          <p:cNvPr id="16" name="Image 4" descr="https://kimi-img.moonshot.cn/pub/slides/slides_tmpl/image/25-08-27-20:04:32-d2nf8k18bjvh7rlj0a60.png"/>
          <p:cNvPicPr>
            <a:picLocks noChangeAspect="1"/>
          </p:cNvPicPr>
          <p:nvPr/>
        </p:nvPicPr>
        <p:blipFill>
          <a:blip r:embed="rId5"/>
          <a:stretch>
            <a:fillRect/>
          </a:stretch>
        </p:blipFill>
        <p:spPr>
          <a:xfrm>
            <a:off x="1311275" y="3907257"/>
            <a:ext cx="1320800" cy="1371600"/>
          </a:xfrm>
          <a:prstGeom prst="rect">
            <a:avLst/>
          </a:prstGeom>
        </p:spPr>
      </p:pic>
      <p:pic>
        <p:nvPicPr>
          <p:cNvPr id="17" name="Image 5" descr="https://kimi-img.moonshot.cn/pub/slides/slides_tmpl/image/25-08-27-20:04:32-d2nf8k18bjvh7rlj0a6g.png"/>
          <p:cNvPicPr>
            <a:picLocks noChangeAspect="1"/>
          </p:cNvPicPr>
          <p:nvPr/>
        </p:nvPicPr>
        <p:blipFill>
          <a:blip r:embed="rId6"/>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p:spPr>
      </p:sp>
      <p:pic>
        <p:nvPicPr>
          <p:cNvPr id="19" name="Image 6" descr="https://kimi-img.moonshot.cn/pub/slides/slides_tmpl/image/25-08-27-20:04:32-d2nf8k18bjvh7rlj0a60.png"/>
          <p:cNvPicPr>
            <a:picLocks noChangeAspect="1"/>
          </p:cNvPicPr>
          <p:nvPr/>
        </p:nvPicPr>
        <p:blipFill>
          <a:blip r:embed="rId5"/>
          <a:stretch>
            <a:fillRect/>
          </a:stretch>
        </p:blipFill>
        <p:spPr>
          <a:xfrm>
            <a:off x="11187651" y="1515914"/>
            <a:ext cx="731154" cy="676035"/>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66000">
              <a:srgbClr val="D8E1FD"/>
            </a:gs>
            <a:gs pos="92000">
              <a:srgbClr val="C7D5FC"/>
            </a:gs>
            <a:gs pos="100000">
              <a:srgbClr val="A1D9F1"/>
            </a:gs>
          </a:gsLst>
          <a:lin ang="5400000" scaled="1"/>
        </a:gradFill>
        <a:effectLst/>
      </p:bgPr>
    </p:bg>
    <p:spTree>
      <p:nvGrpSpPr>
        <p:cNvPr id="1" name=""/>
        <p:cNvGrpSpPr/>
        <p:nvPr/>
      </p:nvGrpSpPr>
      <p:grpSpPr>
        <a:xfrm>
          <a:off x="0" y="0"/>
          <a:ext cx="0" cy="0"/>
          <a:chOff x="0" y="0"/>
          <a:chExt cx="0" cy="0"/>
        </a:xfrm>
      </p:grpSpPr>
      <p:sp>
        <p:nvSpPr>
          <p:cNvPr id="2" name="Shape 0"/>
          <p:cNvSpPr/>
          <p:nvPr/>
        </p:nvSpPr>
        <p:spPr>
          <a:xfrm>
            <a:off x="623615" y="558828"/>
            <a:ext cx="133350" cy="137160"/>
          </a:xfrm>
          <a:prstGeom prst="ellipse">
            <a:avLst/>
          </a:prstGeom>
          <a:solidFill>
            <a:srgbClr val="FFFFFF"/>
          </a:solidFill>
        </p:spPr>
      </p:sp>
      <p:sp>
        <p:nvSpPr>
          <p:cNvPr id="3" name="Shape 1"/>
          <p:cNvSpPr/>
          <p:nvPr/>
        </p:nvSpPr>
        <p:spPr>
          <a:xfrm>
            <a:off x="823640" y="558828"/>
            <a:ext cx="133350" cy="137160"/>
          </a:xfrm>
          <a:prstGeom prst="ellipse">
            <a:avLst/>
          </a:prstGeom>
          <a:solidFill>
            <a:srgbClr val="FFFFFF"/>
          </a:solidFill>
        </p:spPr>
      </p:sp>
      <p:sp>
        <p:nvSpPr>
          <p:cNvPr id="4" name="Shape 2"/>
          <p:cNvSpPr/>
          <p:nvPr/>
        </p:nvSpPr>
        <p:spPr>
          <a:xfrm>
            <a:off x="1023665" y="558828"/>
            <a:ext cx="133350" cy="137160"/>
          </a:xfrm>
          <a:prstGeom prst="ellipse">
            <a:avLst/>
          </a:prstGeom>
          <a:solidFill>
            <a:srgbClr val="FFFFFF"/>
          </a:solidFill>
        </p:spPr>
      </p:sp>
      <p:sp>
        <p:nvSpPr>
          <p:cNvPr id="5" name="Shape 3"/>
          <p:cNvSpPr/>
          <p:nvPr/>
        </p:nvSpPr>
        <p:spPr>
          <a:xfrm>
            <a:off x="1223690" y="558828"/>
            <a:ext cx="133350" cy="137160"/>
          </a:xfrm>
          <a:prstGeom prst="ellipse">
            <a:avLst/>
          </a:prstGeom>
          <a:solidFill>
            <a:srgbClr val="FFFFFF"/>
          </a:solidFill>
        </p:spPr>
      </p:sp>
      <p:sp>
        <p:nvSpPr>
          <p:cNvPr id="6" name="Shape 4"/>
          <p:cNvSpPr/>
          <p:nvPr/>
        </p:nvSpPr>
        <p:spPr>
          <a:xfrm>
            <a:off x="420253" y="1299352"/>
            <a:ext cx="133350" cy="137160"/>
          </a:xfrm>
          <a:prstGeom prst="ellipse">
            <a:avLst/>
          </a:prstGeom>
          <a:solidFill>
            <a:srgbClr val="FFFFFF"/>
          </a:solidFill>
        </p:spPr>
      </p:sp>
      <p:sp>
        <p:nvSpPr>
          <p:cNvPr id="7" name="Shape 5"/>
          <p:cNvSpPr/>
          <p:nvPr/>
        </p:nvSpPr>
        <p:spPr>
          <a:xfrm>
            <a:off x="420253" y="1099326"/>
            <a:ext cx="133350" cy="137160"/>
          </a:xfrm>
          <a:prstGeom prst="ellipse">
            <a:avLst/>
          </a:prstGeom>
          <a:solidFill>
            <a:srgbClr val="FFFFFF"/>
          </a:solidFill>
        </p:spPr>
      </p:sp>
      <p:sp>
        <p:nvSpPr>
          <p:cNvPr id="8" name="Shape 6"/>
          <p:cNvSpPr/>
          <p:nvPr/>
        </p:nvSpPr>
        <p:spPr>
          <a:xfrm>
            <a:off x="420253" y="899301"/>
            <a:ext cx="133350" cy="137160"/>
          </a:xfrm>
          <a:prstGeom prst="ellipse">
            <a:avLst/>
          </a:prstGeom>
          <a:solidFill>
            <a:srgbClr val="FFFFFF"/>
          </a:solidFill>
        </p:spPr>
      </p:sp>
      <p:sp>
        <p:nvSpPr>
          <p:cNvPr id="9" name="Shape 7"/>
          <p:cNvSpPr/>
          <p:nvPr/>
        </p:nvSpPr>
        <p:spPr>
          <a:xfrm>
            <a:off x="420253" y="699277"/>
            <a:ext cx="133350" cy="137160"/>
          </a:xfrm>
          <a:prstGeom prst="ellipse">
            <a:avLst/>
          </a:prstGeom>
          <a:solidFill>
            <a:srgbClr val="FFFFFF"/>
          </a:solidFill>
        </p:spPr>
      </p:sp>
      <p:sp>
        <p:nvSpPr>
          <p:cNvPr id="10" name="Text 8"/>
          <p:cNvSpPr/>
          <p:nvPr/>
        </p:nvSpPr>
        <p:spPr>
          <a:xfrm>
            <a:off x="674370" y="558800"/>
            <a:ext cx="5421630" cy="1470660"/>
          </a:xfrm>
          <a:prstGeom prst="rect">
            <a:avLst/>
          </a:prstGeom>
          <a:noFill/>
        </p:spPr>
        <p:txBody>
          <a:bodyPr wrap="square" lIns="91440" tIns="45720" rIns="91440" bIns="45720" rtlCol="0" anchor="ctr"/>
          <a:lstStyle/>
          <a:p>
            <a:pPr algn="just">
              <a:lnSpc>
                <a:spcPct val="100000"/>
              </a:lnSpc>
            </a:pPr>
            <a:r>
              <a:rPr lang="en-US" sz="2800" dirty="0">
                <a:solidFill>
                  <a:srgbClr val="606C9A"/>
                </a:solidFill>
                <a:latin typeface="MiSans" pitchFamily="34" charset="-122"/>
                <a:ea typeface="MiSans" pitchFamily="34" charset="-122"/>
                <a:cs typeface="MiSans" pitchFamily="34" charset="-120"/>
              </a:rPr>
              <a:t>StarryOS异步串口改造背景</a:t>
            </a:r>
            <a:endParaRPr lang="en-US" sz="1600" dirty="0"/>
          </a:p>
        </p:txBody>
      </p:sp>
      <p:sp>
        <p:nvSpPr>
          <p:cNvPr id="11" name="Shape 9"/>
          <p:cNvSpPr/>
          <p:nvPr/>
        </p:nvSpPr>
        <p:spPr>
          <a:xfrm>
            <a:off x="746289" y="2055854"/>
            <a:ext cx="200024" cy="212992"/>
          </a:xfrm>
          <a:prstGeom prst="ellipse">
            <a:avLst/>
          </a:prstGeom>
          <a:solidFill>
            <a:srgbClr val="000000">
              <a:alpha val="0"/>
            </a:srgbClr>
          </a:solidFill>
          <a:ln w="41275">
            <a:solidFill>
              <a:srgbClr val="FFFFFF"/>
            </a:solidFill>
            <a:prstDash val="solid"/>
          </a:ln>
        </p:spPr>
      </p:sp>
      <p:sp>
        <p:nvSpPr>
          <p:cNvPr id="12" name="Shape 10"/>
          <p:cNvSpPr/>
          <p:nvPr/>
        </p:nvSpPr>
        <p:spPr>
          <a:xfrm>
            <a:off x="813079" y="2096392"/>
            <a:ext cx="120259" cy="131914"/>
          </a:xfrm>
          <a:prstGeom prst="ellipse">
            <a:avLst/>
          </a:prstGeom>
          <a:solidFill>
            <a:srgbClr val="C1CEF6"/>
          </a:solidFill>
        </p:spPr>
      </p:sp>
      <p:sp>
        <p:nvSpPr>
          <p:cNvPr id="13" name="Shape 11"/>
          <p:cNvSpPr/>
          <p:nvPr/>
        </p:nvSpPr>
        <p:spPr>
          <a:xfrm>
            <a:off x="1115231" y="4503296"/>
            <a:ext cx="200024" cy="212992"/>
          </a:xfrm>
          <a:prstGeom prst="ellipse">
            <a:avLst/>
          </a:prstGeom>
          <a:solidFill>
            <a:srgbClr val="000000">
              <a:alpha val="0"/>
            </a:srgbClr>
          </a:solidFill>
          <a:ln w="41275">
            <a:solidFill>
              <a:srgbClr val="FFFFFF"/>
            </a:solidFill>
            <a:prstDash val="solid"/>
          </a:ln>
        </p:spPr>
      </p:sp>
      <p:sp>
        <p:nvSpPr>
          <p:cNvPr id="14" name="Shape 12"/>
          <p:cNvSpPr/>
          <p:nvPr/>
        </p:nvSpPr>
        <p:spPr>
          <a:xfrm>
            <a:off x="1182021" y="4543834"/>
            <a:ext cx="120259" cy="131914"/>
          </a:xfrm>
          <a:prstGeom prst="ellipse">
            <a:avLst/>
          </a:prstGeom>
          <a:solidFill>
            <a:srgbClr val="C1CEF6"/>
          </a:solidFill>
        </p:spPr>
      </p:sp>
      <p:pic>
        <p:nvPicPr>
          <p:cNvPr id="15" name="Image 0" descr="https://kimi-img.moonshot.cn/pub/slides/slides_tmpl/image/25-08-27-20:04:39-d2nf8lp8bjvh7rlj0ai0.jpeg"/>
          <p:cNvPicPr>
            <a:picLocks noChangeAspect="1"/>
          </p:cNvPicPr>
          <p:nvPr/>
        </p:nvPicPr>
        <p:blipFill>
          <a:blip r:embed="rId1"/>
          <a:stretch>
            <a:fillRect/>
          </a:stretch>
        </p:blipFill>
        <p:spPr>
          <a:xfrm>
            <a:off x="6096000" y="0"/>
            <a:ext cx="6204927" cy="6858000"/>
          </a:xfrm>
          <a:prstGeom prst="rect">
            <a:avLst/>
          </a:prstGeom>
        </p:spPr>
      </p:pic>
      <p:sp>
        <p:nvSpPr>
          <p:cNvPr id="16" name="Text 13"/>
          <p:cNvSpPr/>
          <p:nvPr/>
        </p:nvSpPr>
        <p:spPr>
          <a:xfrm>
            <a:off x="1010920" y="2128520"/>
            <a:ext cx="4563110" cy="426720"/>
          </a:xfrm>
          <a:prstGeom prst="rect">
            <a:avLst/>
          </a:prstGeom>
          <a:noFill/>
        </p:spPr>
        <p:txBody>
          <a:bodyPr wrap="square" lIns="91440" tIns="45720" rIns="91440" bIns="45720" rtlCol="0" anchor="ct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原同步阻塞式串口的两大痛点</a:t>
            </a:r>
            <a:endParaRPr lang="en-US" sz="1600" dirty="0"/>
          </a:p>
        </p:txBody>
      </p:sp>
      <p:sp>
        <p:nvSpPr>
          <p:cNvPr id="17" name="Text 14"/>
          <p:cNvSpPr/>
          <p:nvPr/>
        </p:nvSpPr>
        <p:spPr>
          <a:xfrm>
            <a:off x="940435" y="2436495"/>
            <a:ext cx="4563110" cy="1420574"/>
          </a:xfrm>
          <a:prstGeom prst="rect">
            <a:avLst/>
          </a:prstGeom>
          <a:noFill/>
        </p:spPr>
        <p:txBody>
          <a:bodyPr wrap="square" lIns="91440" tIns="45720" rIns="91440" bIns="45720" rtlCol="0" anchor="ctr">
            <a:spAutoFit/>
          </a:bodyPr>
          <a:lstStyle/>
          <a:p>
            <a:pPr>
              <a:lnSpc>
                <a:spcPct val="100000"/>
              </a:lnSpc>
            </a:pPr>
            <a:r>
              <a:rPr lang="en-US" sz="1600" dirty="0">
                <a:solidFill>
                  <a:srgbClr val="606C9A"/>
                </a:solidFill>
                <a:latin typeface="MiSans" pitchFamily="34" charset="-122"/>
                <a:ea typeface="MiSans" pitchFamily="34" charset="-122"/>
                <a:cs typeface="MiSans" pitchFamily="34" charset="-120"/>
              </a:rPr>
              <a:t>StarryOS作为面向RISC-V的Rust内核项目，原串口实现采用同步阻塞模式，导致用户态Shell输入输出时调用方被串口速率阻塞，且多字节写入场景下CPU持续轮询硬件FIFO，造成大量无效周期浪费，严重制约系统交互效率与资源利用率。</a:t>
            </a:r>
            <a:endParaRPr lang="en-US" sz="1600" dirty="0"/>
          </a:p>
        </p:txBody>
      </p:sp>
      <p:sp>
        <p:nvSpPr>
          <p:cNvPr id="18" name="Text 15"/>
          <p:cNvSpPr/>
          <p:nvPr/>
        </p:nvSpPr>
        <p:spPr>
          <a:xfrm>
            <a:off x="1410335" y="4457700"/>
            <a:ext cx="4234180"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本阶段核心目标与约束条件</a:t>
            </a:r>
            <a:endParaRPr lang="en-US" sz="1600" dirty="0"/>
          </a:p>
        </p:txBody>
      </p:sp>
      <p:sp>
        <p:nvSpPr>
          <p:cNvPr id="19" name="Text 16"/>
          <p:cNvSpPr/>
          <p:nvPr/>
        </p:nvSpPr>
        <p:spPr>
          <a:xfrm>
            <a:off x="1276985" y="4647565"/>
            <a:ext cx="4672965" cy="1702435"/>
          </a:xfrm>
          <a:prstGeom prst="rect">
            <a:avLst/>
          </a:prstGeom>
          <a:noFill/>
        </p:spPr>
        <p:txBody>
          <a:bodyPr wrap="square" lIns="91440" tIns="45720" rIns="91440" bIns="45720" rtlCol="0" anchor="ctr"/>
          <a:lstStyle/>
          <a:p>
            <a:pPr>
              <a:lnSpc>
                <a:spcPct val="100000"/>
              </a:lnSpc>
            </a:pPr>
            <a:r>
              <a:rPr lang="en-US" sz="1600" dirty="0">
                <a:solidFill>
                  <a:srgbClr val="606C9A"/>
                </a:solidFill>
                <a:latin typeface="MiSans" pitchFamily="34" charset="-122"/>
                <a:ea typeface="MiSans" pitchFamily="34" charset="-122"/>
                <a:cs typeface="MiSans" pitchFamily="34" charset="-120"/>
              </a:rPr>
              <a:t>在保留同步内核日志通道的前提下，从零为用户态Shell构建非阻塞、可中断驱动、CPU高效的异步串口通路。关键约束贯穿全程：不修改任何上游框架、内核抽象层、硬件抽象层及底层驱动库，仅引入社区主流轻量级原子唤醒原语，禁止引入完整异步入库。</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66000">
              <a:srgbClr val="D8E1FD"/>
            </a:gs>
            <a:gs pos="92000">
              <a:srgbClr val="C7D5FC"/>
            </a:gs>
            <a:gs pos="100000">
              <a:srgbClr val="A1D9F1"/>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33-d2nf8k98bjvh7rlj0a7g.png"/>
          <p:cNvPicPr>
            <a:picLocks noChangeAspect="1"/>
          </p:cNvPicPr>
          <p:nvPr/>
        </p:nvPicPr>
        <p:blipFill>
          <a:blip r:embed="rId1"/>
          <a:stretch>
            <a:fillRect/>
          </a:stretch>
        </p:blipFill>
        <p:spPr>
          <a:xfrm flipH="1">
            <a:off x="5409900" y="1747520"/>
            <a:ext cx="6782099" cy="4533204"/>
          </a:xfrm>
          <a:prstGeom prst="rect">
            <a:avLst/>
          </a:prstGeom>
        </p:spPr>
      </p:pic>
      <p:sp>
        <p:nvSpPr>
          <p:cNvPr id="3" name="Shape 0"/>
          <p:cNvSpPr/>
          <p:nvPr/>
        </p:nvSpPr>
        <p:spPr>
          <a:xfrm>
            <a:off x="626131" y="324163"/>
            <a:ext cx="133350" cy="137160"/>
          </a:xfrm>
          <a:prstGeom prst="ellipse">
            <a:avLst/>
          </a:prstGeom>
          <a:solidFill>
            <a:srgbClr val="FFFFFF"/>
          </a:solidFill>
        </p:spPr>
      </p:sp>
      <p:sp>
        <p:nvSpPr>
          <p:cNvPr id="4" name="Shape 1"/>
          <p:cNvSpPr/>
          <p:nvPr/>
        </p:nvSpPr>
        <p:spPr>
          <a:xfrm>
            <a:off x="826156" y="324163"/>
            <a:ext cx="133350" cy="137160"/>
          </a:xfrm>
          <a:prstGeom prst="ellipse">
            <a:avLst/>
          </a:prstGeom>
          <a:solidFill>
            <a:srgbClr val="FFFFFF"/>
          </a:solidFill>
        </p:spPr>
      </p:sp>
      <p:sp>
        <p:nvSpPr>
          <p:cNvPr id="5" name="Shape 2"/>
          <p:cNvSpPr/>
          <p:nvPr/>
        </p:nvSpPr>
        <p:spPr>
          <a:xfrm>
            <a:off x="1026181" y="324163"/>
            <a:ext cx="133350" cy="137160"/>
          </a:xfrm>
          <a:prstGeom prst="ellipse">
            <a:avLst/>
          </a:prstGeom>
          <a:solidFill>
            <a:srgbClr val="FFFFFF"/>
          </a:solidFill>
        </p:spPr>
      </p:sp>
      <p:sp>
        <p:nvSpPr>
          <p:cNvPr id="6" name="Shape 3"/>
          <p:cNvSpPr/>
          <p:nvPr/>
        </p:nvSpPr>
        <p:spPr>
          <a:xfrm>
            <a:off x="1226206" y="324163"/>
            <a:ext cx="133350" cy="137160"/>
          </a:xfrm>
          <a:prstGeom prst="ellipse">
            <a:avLst/>
          </a:prstGeom>
          <a:solidFill>
            <a:srgbClr val="FFFFFF"/>
          </a:solidFill>
        </p:spPr>
      </p:sp>
      <p:sp>
        <p:nvSpPr>
          <p:cNvPr id="7" name="Shape 4"/>
          <p:cNvSpPr/>
          <p:nvPr/>
        </p:nvSpPr>
        <p:spPr>
          <a:xfrm>
            <a:off x="422769" y="1064687"/>
            <a:ext cx="133350" cy="137160"/>
          </a:xfrm>
          <a:prstGeom prst="ellipse">
            <a:avLst/>
          </a:prstGeom>
          <a:solidFill>
            <a:srgbClr val="FFFFFF"/>
          </a:solidFill>
        </p:spPr>
      </p:sp>
      <p:sp>
        <p:nvSpPr>
          <p:cNvPr id="8" name="Shape 5"/>
          <p:cNvSpPr/>
          <p:nvPr/>
        </p:nvSpPr>
        <p:spPr>
          <a:xfrm>
            <a:off x="422769" y="864661"/>
            <a:ext cx="133350" cy="137160"/>
          </a:xfrm>
          <a:prstGeom prst="ellipse">
            <a:avLst/>
          </a:prstGeom>
          <a:solidFill>
            <a:srgbClr val="FFFFFF"/>
          </a:solidFill>
        </p:spPr>
      </p:sp>
      <p:sp>
        <p:nvSpPr>
          <p:cNvPr id="9" name="Shape 6"/>
          <p:cNvSpPr/>
          <p:nvPr/>
        </p:nvSpPr>
        <p:spPr>
          <a:xfrm>
            <a:off x="422769" y="664636"/>
            <a:ext cx="133350" cy="137160"/>
          </a:xfrm>
          <a:prstGeom prst="ellipse">
            <a:avLst/>
          </a:prstGeom>
          <a:solidFill>
            <a:srgbClr val="FFFFFF"/>
          </a:solidFill>
        </p:spPr>
      </p:sp>
      <p:sp>
        <p:nvSpPr>
          <p:cNvPr id="10" name="Shape 7"/>
          <p:cNvSpPr/>
          <p:nvPr/>
        </p:nvSpPr>
        <p:spPr>
          <a:xfrm>
            <a:off x="422769" y="464612"/>
            <a:ext cx="133350" cy="137160"/>
          </a:xfrm>
          <a:prstGeom prst="ellipse">
            <a:avLst/>
          </a:prstGeom>
          <a:solidFill>
            <a:srgbClr val="FFFFFF"/>
          </a:solidFill>
        </p:spPr>
      </p:sp>
      <p:sp>
        <p:nvSpPr>
          <p:cNvPr id="11" name="Text 8"/>
          <p:cNvSpPr/>
          <p:nvPr/>
        </p:nvSpPr>
        <p:spPr>
          <a:xfrm>
            <a:off x="692785" y="474345"/>
            <a:ext cx="10713720" cy="1657350"/>
          </a:xfrm>
          <a:prstGeom prst="rect">
            <a:avLst/>
          </a:prstGeom>
          <a:noFill/>
        </p:spPr>
        <p:txBody>
          <a:bodyPr wrap="square" lIns="91440" tIns="45720" rIns="91440" bIns="45720" rtlCol="0" anchor="t"/>
          <a:lstStyle/>
          <a:p>
            <a:pPr algn="just">
              <a:lnSpc>
                <a:spcPct val="100000"/>
              </a:lnSpc>
            </a:pPr>
            <a:r>
              <a:rPr lang="en-US" sz="3200" dirty="0">
                <a:solidFill>
                  <a:srgbClr val="606C9A"/>
                </a:solidFill>
                <a:latin typeface="MiSans" pitchFamily="34" charset="-122"/>
                <a:ea typeface="MiSans" pitchFamily="34" charset="-122"/>
                <a:cs typeface="MiSans" pitchFamily="34" charset="-120"/>
              </a:rPr>
              <a:t>训练营阶段工作铺垫</a:t>
            </a:r>
            <a:endParaRPr lang="en-US" sz="1600" dirty="0"/>
          </a:p>
        </p:txBody>
      </p:sp>
      <p:sp>
        <p:nvSpPr>
          <p:cNvPr id="12" name="Shape 9"/>
          <p:cNvSpPr/>
          <p:nvPr/>
        </p:nvSpPr>
        <p:spPr>
          <a:xfrm>
            <a:off x="5880705" y="1277879"/>
            <a:ext cx="273761" cy="268403"/>
          </a:xfrm>
          <a:prstGeom prst="ellipse">
            <a:avLst/>
          </a:prstGeom>
          <a:solidFill>
            <a:srgbClr val="000000">
              <a:alpha val="0"/>
            </a:srgbClr>
          </a:solidFill>
          <a:ln w="41275">
            <a:solidFill>
              <a:srgbClr val="FFFFFF"/>
            </a:solidFill>
            <a:prstDash val="solid"/>
          </a:ln>
        </p:spPr>
      </p:sp>
      <p:sp>
        <p:nvSpPr>
          <p:cNvPr id="13" name="Shape 10"/>
          <p:cNvSpPr/>
          <p:nvPr/>
        </p:nvSpPr>
        <p:spPr>
          <a:xfrm>
            <a:off x="5972116" y="1328963"/>
            <a:ext cx="164592" cy="166233"/>
          </a:xfrm>
          <a:prstGeom prst="ellipse">
            <a:avLst/>
          </a:prstGeom>
          <a:solidFill>
            <a:srgbClr val="C1CEF6"/>
          </a:solidFill>
        </p:spPr>
      </p:sp>
      <p:sp>
        <p:nvSpPr>
          <p:cNvPr id="14" name="Shape 11"/>
          <p:cNvSpPr/>
          <p:nvPr/>
        </p:nvSpPr>
        <p:spPr>
          <a:xfrm>
            <a:off x="5880705" y="3072924"/>
            <a:ext cx="273761" cy="268403"/>
          </a:xfrm>
          <a:prstGeom prst="ellipse">
            <a:avLst/>
          </a:prstGeom>
          <a:solidFill>
            <a:srgbClr val="000000">
              <a:alpha val="0"/>
            </a:srgbClr>
          </a:solidFill>
          <a:ln w="41275">
            <a:solidFill>
              <a:srgbClr val="FFFFFF"/>
            </a:solidFill>
            <a:prstDash val="solid"/>
          </a:ln>
        </p:spPr>
      </p:sp>
      <p:sp>
        <p:nvSpPr>
          <p:cNvPr id="15" name="Shape 12"/>
          <p:cNvSpPr/>
          <p:nvPr/>
        </p:nvSpPr>
        <p:spPr>
          <a:xfrm>
            <a:off x="5972116" y="3124008"/>
            <a:ext cx="164592" cy="166233"/>
          </a:xfrm>
          <a:prstGeom prst="ellipse">
            <a:avLst/>
          </a:prstGeom>
          <a:solidFill>
            <a:srgbClr val="C1CEF6"/>
          </a:solidFill>
        </p:spPr>
      </p:sp>
      <p:pic>
        <p:nvPicPr>
          <p:cNvPr id="16" name="Image 1" descr="https://kimi-img.moonshot.cn/pub/slides/slides_tmpl/image/25-08-27-20:04:43-d2nf8mp8bjvh7rlj0an0.jpeg"/>
          <p:cNvPicPr>
            <a:picLocks noChangeAspect="1"/>
          </p:cNvPicPr>
          <p:nvPr/>
        </p:nvPicPr>
        <p:blipFill>
          <a:blip r:embed="rId2"/>
          <a:stretch>
            <a:fillRect/>
          </a:stretch>
        </p:blipFill>
        <p:spPr>
          <a:xfrm>
            <a:off x="911975" y="1870714"/>
            <a:ext cx="4406868" cy="4533204"/>
          </a:xfrm>
          <a:prstGeom prst="rect">
            <a:avLst/>
          </a:prstGeom>
        </p:spPr>
      </p:pic>
      <p:sp>
        <p:nvSpPr>
          <p:cNvPr id="17" name="Shape 13"/>
          <p:cNvSpPr/>
          <p:nvPr/>
        </p:nvSpPr>
        <p:spPr>
          <a:xfrm>
            <a:off x="5838171" y="4889559"/>
            <a:ext cx="273761" cy="268403"/>
          </a:xfrm>
          <a:prstGeom prst="ellipse">
            <a:avLst/>
          </a:prstGeom>
          <a:solidFill>
            <a:srgbClr val="000000">
              <a:alpha val="0"/>
            </a:srgbClr>
          </a:solidFill>
          <a:ln w="41275">
            <a:solidFill>
              <a:srgbClr val="FFFFFF"/>
            </a:solidFill>
            <a:prstDash val="solid"/>
          </a:ln>
        </p:spPr>
      </p:sp>
      <p:sp>
        <p:nvSpPr>
          <p:cNvPr id="18" name="Shape 14"/>
          <p:cNvSpPr/>
          <p:nvPr/>
        </p:nvSpPr>
        <p:spPr>
          <a:xfrm>
            <a:off x="5929582" y="4940643"/>
            <a:ext cx="164592" cy="166233"/>
          </a:xfrm>
          <a:prstGeom prst="ellipse">
            <a:avLst/>
          </a:prstGeom>
          <a:solidFill>
            <a:srgbClr val="C1CEF6"/>
          </a:solidFill>
        </p:spPr>
      </p:sp>
      <p:sp>
        <p:nvSpPr>
          <p:cNvPr id="19" name="Text 15"/>
          <p:cNvSpPr/>
          <p:nvPr/>
        </p:nvSpPr>
        <p:spPr>
          <a:xfrm>
            <a:off x="6234654" y="1130783"/>
            <a:ext cx="5480551" cy="459740"/>
          </a:xfrm>
          <a:prstGeom prst="rect">
            <a:avLst/>
          </a:prstGeom>
          <a:noFill/>
        </p:spPr>
        <p:txBody>
          <a:bodyPr wrap="square" lIns="91440" tIns="45720" rIns="91440" bIns="45720" rtlCol="0" anchor="ctr">
            <a:spAutoFit/>
          </a:bodyPr>
          <a:lstStyle/>
          <a:p>
            <a:pPr algn="just">
              <a:lnSpc>
                <a:spcPct val="100000"/>
              </a:lnSpc>
            </a:pPr>
            <a:r>
              <a:rPr lang="en-US" sz="2400" dirty="0">
                <a:solidFill>
                  <a:srgbClr val="606C9A"/>
                </a:solidFill>
                <a:latin typeface="MiSans" pitchFamily="34" charset="-122"/>
                <a:ea typeface="MiSans" pitchFamily="34" charset="-122"/>
                <a:cs typeface="MiSans" pitchFamily="34" charset="-120"/>
              </a:rPr>
              <a:t>并发模型性能对比验证</a:t>
            </a:r>
            <a:endParaRPr lang="en-US" sz="1600" dirty="0"/>
          </a:p>
        </p:txBody>
      </p:sp>
      <p:sp>
        <p:nvSpPr>
          <p:cNvPr id="20" name="Text 16"/>
          <p:cNvSpPr/>
          <p:nvPr/>
        </p:nvSpPr>
        <p:spPr>
          <a:xfrm>
            <a:off x="5986395" y="1591520"/>
            <a:ext cx="5480551" cy="1114187"/>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通过预取缓存、纯文件读取、可配置负载四步控制变量法排除网络和解析混淆，在统一数据量下验证：I/O密集型场景协程较线程快48%至82%，CPU密集型场景三者差异在6%以内，进程内存开销比线程和协程高100至400倍，结论经两轮独立运行零反转验证。</a:t>
            </a:r>
            <a:endParaRPr lang="en-US" sz="1600" dirty="0"/>
          </a:p>
        </p:txBody>
      </p:sp>
      <p:sp>
        <p:nvSpPr>
          <p:cNvPr id="21" name="Text 17"/>
          <p:cNvSpPr/>
          <p:nvPr/>
        </p:nvSpPr>
        <p:spPr>
          <a:xfrm>
            <a:off x="6234654" y="2925828"/>
            <a:ext cx="5480551" cy="459740"/>
          </a:xfrm>
          <a:prstGeom prst="rect">
            <a:avLst/>
          </a:prstGeom>
          <a:noFill/>
        </p:spPr>
        <p:txBody>
          <a:bodyPr wrap="square" lIns="91440" tIns="45720" rIns="91440" bIns="45720" rtlCol="0" anchor="ctr">
            <a:spAutoFit/>
          </a:bodyPr>
          <a:lstStyle/>
          <a:p>
            <a:pPr algn="just">
              <a:lnSpc>
                <a:spcPct val="100000"/>
              </a:lnSpc>
            </a:pPr>
            <a:r>
              <a:rPr lang="en-US" sz="2400" dirty="0">
                <a:solidFill>
                  <a:srgbClr val="606C9A"/>
                </a:solidFill>
                <a:latin typeface="MiSans" pitchFamily="34" charset="-122"/>
                <a:ea typeface="MiSans" pitchFamily="34" charset="-122"/>
                <a:cs typeface="MiSans" pitchFamily="34" charset="-120"/>
              </a:rPr>
              <a:t>用户态绿色线程库实现</a:t>
            </a:r>
            <a:endParaRPr lang="en-US" sz="1600" dirty="0"/>
          </a:p>
        </p:txBody>
      </p:sp>
      <p:sp>
        <p:nvSpPr>
          <p:cNvPr id="22" name="Text 18"/>
          <p:cNvSpPr/>
          <p:nvPr/>
        </p:nvSpPr>
        <p:spPr>
          <a:xfrm>
            <a:off x="5967954" y="3365888"/>
            <a:ext cx="5480551" cy="1114187"/>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实现支持优先级调度的用户态绿色线程库，通过裸函数栈布局手工完成上下文切换，支持x86-64 Linux、Windows、RISC-V 64三平台，全部代码可在stable Rust上编译运行，并配套整理无栈协程原理、绿色线程实现、执行流状态变迁三篇分析文档。</a:t>
            </a:r>
            <a:endParaRPr lang="en-US" sz="1600" dirty="0"/>
          </a:p>
        </p:txBody>
      </p:sp>
      <p:sp>
        <p:nvSpPr>
          <p:cNvPr id="23" name="Text 19"/>
          <p:cNvSpPr/>
          <p:nvPr/>
        </p:nvSpPr>
        <p:spPr>
          <a:xfrm>
            <a:off x="6192120" y="4742463"/>
            <a:ext cx="5480551" cy="459740"/>
          </a:xfrm>
          <a:prstGeom prst="rect">
            <a:avLst/>
          </a:prstGeom>
          <a:noFill/>
        </p:spPr>
        <p:txBody>
          <a:bodyPr wrap="square" lIns="91440" tIns="45720" rIns="91440" bIns="45720" rtlCol="0" anchor="ctr">
            <a:spAutoFit/>
          </a:bodyPr>
          <a:lstStyle/>
          <a:p>
            <a:pPr algn="just">
              <a:lnSpc>
                <a:spcPct val="100000"/>
              </a:lnSpc>
            </a:pPr>
            <a:r>
              <a:rPr lang="en-US" sz="2400" dirty="0">
                <a:solidFill>
                  <a:srgbClr val="606C9A"/>
                </a:solidFill>
                <a:latin typeface="MiSans" pitchFamily="34" charset="-122"/>
                <a:ea typeface="MiSans" pitchFamily="34" charset="-122"/>
                <a:cs typeface="MiSans" pitchFamily="34" charset="-120"/>
              </a:rPr>
              <a:t>调度器优化与异步运行时实践</a:t>
            </a:r>
            <a:endParaRPr lang="en-US" sz="1600" dirty="0"/>
          </a:p>
        </p:txBody>
      </p:sp>
      <p:sp>
        <p:nvSpPr>
          <p:cNvPr id="24" name="Text 20"/>
          <p:cNvSpPr/>
          <p:nvPr/>
        </p:nvSpPr>
        <p:spPr>
          <a:xfrm>
            <a:off x="5925420" y="5182523"/>
            <a:ext cx="5480551" cy="1375331"/>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构建爬虫框架接入自研绿色线程和Tokio异步运行时，量化四组调度配置在满载CPU与中量I/O场景下的差异。优化Tokio优先级分发器：将基于二叉堆的逐任务分发改造为基于三队列的批量分发，使优先级模式与默认模式耗时差距从1.83秒缩小至0.11秒，差距缩小94%。</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38-d2nf8lh8bjvh7rlj0aeg.png"/>
          <p:cNvPicPr>
            <a:picLocks noChangeAspect="1"/>
          </p:cNvPicPr>
          <p:nvPr/>
        </p:nvPicPr>
        <p:blipFill>
          <a:blip r:embed="rId1"/>
          <a:stretch>
            <a:fillRect/>
          </a:stretch>
        </p:blipFill>
        <p:spPr>
          <a:xfrm>
            <a:off x="4928399" y="517692"/>
            <a:ext cx="7251700" cy="6340308"/>
          </a:xfrm>
          <a:prstGeom prst="rect">
            <a:avLst/>
          </a:prstGeom>
        </p:spPr>
      </p:pic>
      <p:sp>
        <p:nvSpPr>
          <p:cNvPr id="3" name="Text 0"/>
          <p:cNvSpPr/>
          <p:nvPr/>
        </p:nvSpPr>
        <p:spPr>
          <a:xfrm>
            <a:off x="7048502" y="2308860"/>
            <a:ext cx="4599086" cy="3952042"/>
          </a:xfrm>
          <a:prstGeom prst="rect">
            <a:avLst/>
          </a:prstGeom>
          <a:noFill/>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122"/>
                <a:ea typeface="MiSans" pitchFamily="34" charset="-122"/>
                <a:cs typeface="MiSans" pitchFamily="34" charset="-120"/>
              </a:rPr>
              <a:t>02</a:t>
            </a:r>
            <a:endParaRPr lang="en-US" sz="1600" dirty="0"/>
          </a:p>
        </p:txBody>
      </p:sp>
      <p:sp>
        <p:nvSpPr>
          <p:cNvPr id="4" name="Text 1"/>
          <p:cNvSpPr/>
          <p:nvPr/>
        </p:nvSpPr>
        <p:spPr>
          <a:xfrm>
            <a:off x="797560" y="1932305"/>
            <a:ext cx="10755630" cy="714931"/>
          </a:xfrm>
          <a:prstGeom prst="rect">
            <a:avLst/>
          </a:prstGeom>
          <a:noFill/>
        </p:spPr>
        <p:txBody>
          <a:bodyPr wrap="square" lIns="91440" tIns="45720" rIns="91440" bIns="45720" rtlCol="0" anchor="ctr">
            <a:spAutoFit/>
          </a:bodyPr>
          <a:lstStyle/>
          <a:p>
            <a:pPr>
              <a:lnSpc>
                <a:spcPct val="100000"/>
              </a:lnSpc>
            </a:pPr>
            <a:r>
              <a:rPr lang="en-US" sz="4000" dirty="0">
                <a:solidFill>
                  <a:srgbClr val="6D7AAF"/>
                </a:solidFill>
                <a:latin typeface="MiSans" pitchFamily="34" charset="-122"/>
                <a:ea typeface="MiSans" pitchFamily="34" charset="-122"/>
                <a:cs typeface="MiSans" pitchFamily="34" charset="-120"/>
              </a:rPr>
              <a:t>核心工作实现</a:t>
            </a:r>
            <a:endParaRPr lang="en-US" sz="1600" dirty="0"/>
          </a:p>
        </p:txBody>
      </p:sp>
      <p:sp>
        <p:nvSpPr>
          <p:cNvPr id="5" name="Shape 2"/>
          <p:cNvSpPr/>
          <p:nvPr/>
        </p:nvSpPr>
        <p:spPr>
          <a:xfrm>
            <a:off x="731049" y="856006"/>
            <a:ext cx="133350" cy="137160"/>
          </a:xfrm>
          <a:prstGeom prst="ellipse">
            <a:avLst/>
          </a:prstGeom>
          <a:solidFill>
            <a:srgbClr val="FFFFFF"/>
          </a:solidFill>
        </p:spPr>
      </p:sp>
      <p:sp>
        <p:nvSpPr>
          <p:cNvPr id="6" name="Shape 3"/>
          <p:cNvSpPr/>
          <p:nvPr/>
        </p:nvSpPr>
        <p:spPr>
          <a:xfrm>
            <a:off x="931074" y="856006"/>
            <a:ext cx="133350" cy="137160"/>
          </a:xfrm>
          <a:prstGeom prst="ellipse">
            <a:avLst/>
          </a:prstGeom>
          <a:solidFill>
            <a:srgbClr val="FFFFFF"/>
          </a:solidFill>
        </p:spPr>
      </p:sp>
      <p:sp>
        <p:nvSpPr>
          <p:cNvPr id="7" name="Shape 4"/>
          <p:cNvSpPr/>
          <p:nvPr/>
        </p:nvSpPr>
        <p:spPr>
          <a:xfrm>
            <a:off x="1131099" y="856006"/>
            <a:ext cx="133350" cy="137160"/>
          </a:xfrm>
          <a:prstGeom prst="ellipse">
            <a:avLst/>
          </a:prstGeom>
          <a:solidFill>
            <a:srgbClr val="FFFFFF"/>
          </a:solidFill>
        </p:spPr>
      </p:sp>
      <p:sp>
        <p:nvSpPr>
          <p:cNvPr id="8" name="Shape 5"/>
          <p:cNvSpPr/>
          <p:nvPr/>
        </p:nvSpPr>
        <p:spPr>
          <a:xfrm>
            <a:off x="1331124" y="856006"/>
            <a:ext cx="133350" cy="137160"/>
          </a:xfrm>
          <a:prstGeom prst="ellipse">
            <a:avLst/>
          </a:prstGeom>
          <a:solidFill>
            <a:srgbClr val="FFFFFF"/>
          </a:solidFill>
        </p:spPr>
      </p:sp>
      <p:sp>
        <p:nvSpPr>
          <p:cNvPr id="9" name="Shape 6"/>
          <p:cNvSpPr/>
          <p:nvPr/>
        </p:nvSpPr>
        <p:spPr>
          <a:xfrm>
            <a:off x="527687" y="1596530"/>
            <a:ext cx="133350" cy="137160"/>
          </a:xfrm>
          <a:prstGeom prst="ellipse">
            <a:avLst/>
          </a:prstGeom>
          <a:solidFill>
            <a:srgbClr val="FFFFFF"/>
          </a:solidFill>
        </p:spPr>
      </p:sp>
      <p:sp>
        <p:nvSpPr>
          <p:cNvPr id="10" name="Shape 7"/>
          <p:cNvSpPr/>
          <p:nvPr/>
        </p:nvSpPr>
        <p:spPr>
          <a:xfrm>
            <a:off x="527687" y="1396504"/>
            <a:ext cx="133350" cy="137160"/>
          </a:xfrm>
          <a:prstGeom prst="ellipse">
            <a:avLst/>
          </a:prstGeom>
          <a:solidFill>
            <a:srgbClr val="FFFFFF"/>
          </a:solidFill>
        </p:spPr>
      </p:sp>
      <p:sp>
        <p:nvSpPr>
          <p:cNvPr id="11" name="Shape 8"/>
          <p:cNvSpPr/>
          <p:nvPr/>
        </p:nvSpPr>
        <p:spPr>
          <a:xfrm>
            <a:off x="527687" y="1196479"/>
            <a:ext cx="133350" cy="137160"/>
          </a:xfrm>
          <a:prstGeom prst="ellipse">
            <a:avLst/>
          </a:prstGeom>
          <a:solidFill>
            <a:srgbClr val="FFFFFF"/>
          </a:solidFill>
        </p:spPr>
      </p:sp>
      <p:sp>
        <p:nvSpPr>
          <p:cNvPr id="12" name="Shape 9"/>
          <p:cNvSpPr/>
          <p:nvPr/>
        </p:nvSpPr>
        <p:spPr>
          <a:xfrm>
            <a:off x="527687" y="996455"/>
            <a:ext cx="133350" cy="137160"/>
          </a:xfrm>
          <a:prstGeom prst="ellipse">
            <a:avLst/>
          </a:prstGeom>
          <a:solidFill>
            <a:srgbClr val="FFFFFF"/>
          </a:solidFill>
        </p:spPr>
      </p:sp>
      <p:pic>
        <p:nvPicPr>
          <p:cNvPr id="13" name="Image 1" descr="https://kimi-img.moonshot.cn/pub/slides/slides_tmpl/image/25-08-27-20:04:34-d2nf8kh8bjvh7rlj0a80.png"/>
          <p:cNvPicPr>
            <a:picLocks noChangeAspect="1"/>
          </p:cNvPicPr>
          <p:nvPr/>
        </p:nvPicPr>
        <p:blipFill>
          <a:blip r:embed="rId2">
            <a:alphaModFix amt="59000"/>
          </a:blip>
          <a:stretch>
            <a:fillRect/>
          </a:stretch>
        </p:blipFill>
        <p:spPr>
          <a:xfrm>
            <a:off x="5131435" y="330200"/>
            <a:ext cx="7048500" cy="6197600"/>
          </a:xfrm>
          <a:prstGeom prst="rect">
            <a:avLst/>
          </a:prstGeom>
        </p:spPr>
      </p:pic>
      <p:pic>
        <p:nvPicPr>
          <p:cNvPr id="14" name="Image 2" descr="https://kimi-img.moonshot.cn/pub/slides/slides_tmpl/image/25-08-27-20:04:33-d2nf8k98bjvh7rlj0a7g.png"/>
          <p:cNvPicPr>
            <a:picLocks noChangeAspect="1"/>
          </p:cNvPicPr>
          <p:nvPr/>
        </p:nvPicPr>
        <p:blipFill>
          <a:blip r:embed="rId3"/>
          <a:stretch>
            <a:fillRect/>
          </a:stretch>
        </p:blipFill>
        <p:spPr>
          <a:xfrm>
            <a:off x="0" y="3797300"/>
            <a:ext cx="5143500" cy="3060700"/>
          </a:xfrm>
          <a:prstGeom prst="rect">
            <a:avLst/>
          </a:prstGeom>
        </p:spPr>
      </p:pic>
      <p:pic>
        <p:nvPicPr>
          <p:cNvPr id="15" name="Image 3" descr="https://kimi-img.moonshot.cn/pub/slides/slides_tmpl/image/25-08-27-20:04:32-d2nf8k18bjvh7rlj0a5g.png"/>
          <p:cNvPicPr>
            <a:picLocks noChangeAspect="1"/>
          </p:cNvPicPr>
          <p:nvPr/>
        </p:nvPicPr>
        <p:blipFill>
          <a:blip r:embed="rId4"/>
          <a:stretch>
            <a:fillRect/>
          </a:stretch>
        </p:blipFill>
        <p:spPr>
          <a:xfrm>
            <a:off x="512445" y="4587240"/>
            <a:ext cx="152400" cy="1524000"/>
          </a:xfrm>
          <a:prstGeom prst="rect">
            <a:avLst/>
          </a:prstGeom>
        </p:spPr>
      </p:pic>
      <p:pic>
        <p:nvPicPr>
          <p:cNvPr id="16" name="Image 4" descr="https://kimi-img.moonshot.cn/pub/slides/slides_tmpl/image/25-08-27-20:04:32-d2nf8k18bjvh7rlj0a60.png"/>
          <p:cNvPicPr>
            <a:picLocks noChangeAspect="1"/>
          </p:cNvPicPr>
          <p:nvPr/>
        </p:nvPicPr>
        <p:blipFill>
          <a:blip r:embed="rId5"/>
          <a:stretch>
            <a:fillRect/>
          </a:stretch>
        </p:blipFill>
        <p:spPr>
          <a:xfrm>
            <a:off x="1311275" y="3907257"/>
            <a:ext cx="1320800" cy="1371600"/>
          </a:xfrm>
          <a:prstGeom prst="rect">
            <a:avLst/>
          </a:prstGeom>
        </p:spPr>
      </p:pic>
      <p:pic>
        <p:nvPicPr>
          <p:cNvPr id="17" name="Image 5" descr="https://kimi-img.moonshot.cn/pub/slides/slides_tmpl/image/25-08-27-20:04:32-d2nf8k18bjvh7rlj0a6g.png"/>
          <p:cNvPicPr>
            <a:picLocks noChangeAspect="1"/>
          </p:cNvPicPr>
          <p:nvPr/>
        </p:nvPicPr>
        <p:blipFill>
          <a:blip r:embed="rId6"/>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p:spPr>
      </p:sp>
      <p:pic>
        <p:nvPicPr>
          <p:cNvPr id="19" name="Image 6" descr="https://kimi-img.moonshot.cn/pub/slides/slides_tmpl/image/25-08-27-20:04:32-d2nf8k18bjvh7rlj0a60.png"/>
          <p:cNvPicPr>
            <a:picLocks noChangeAspect="1"/>
          </p:cNvPicPr>
          <p:nvPr/>
        </p:nvPicPr>
        <p:blipFill>
          <a:blip r:embed="rId5"/>
          <a:stretch>
            <a:fillRect/>
          </a:stretch>
        </p:blipFill>
        <p:spPr>
          <a:xfrm>
            <a:off x="11187651" y="1515914"/>
            <a:ext cx="731154" cy="676035"/>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2ECD9"/>
            </a:gs>
            <a:gs pos="7000">
              <a:srgbClr val="D8E1FD"/>
            </a:gs>
            <a:gs pos="59000">
              <a:srgbClr val="FFF2C6"/>
            </a:gs>
            <a:gs pos="75000">
              <a:srgbClr val="D8E1FD"/>
            </a:gs>
            <a:gs pos="86000">
              <a:srgbClr val="C7D5FC"/>
            </a:gs>
            <a:gs pos="100000">
              <a:srgbClr val="C7D5FC"/>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42-d2nf8mh8bjvh7rlj0am0.png"/>
          <p:cNvPicPr>
            <a:picLocks noChangeAspect="1"/>
          </p:cNvPicPr>
          <p:nvPr/>
        </p:nvPicPr>
        <p:blipFill>
          <a:blip r:embed="rId1"/>
          <a:stretch>
            <a:fillRect/>
          </a:stretch>
        </p:blipFill>
        <p:spPr>
          <a:xfrm flipH="1">
            <a:off x="0" y="86155"/>
            <a:ext cx="7806354" cy="6685689"/>
          </a:xfrm>
          <a:prstGeom prst="rect">
            <a:avLst/>
          </a:prstGeom>
        </p:spPr>
      </p:pic>
      <p:sp>
        <p:nvSpPr>
          <p:cNvPr id="3" name="Shape 0"/>
          <p:cNvSpPr/>
          <p:nvPr/>
        </p:nvSpPr>
        <p:spPr>
          <a:xfrm>
            <a:off x="784528" y="292643"/>
            <a:ext cx="133350" cy="137160"/>
          </a:xfrm>
          <a:prstGeom prst="ellipse">
            <a:avLst/>
          </a:prstGeom>
          <a:solidFill>
            <a:srgbClr val="FFFFFF"/>
          </a:solidFill>
        </p:spPr>
      </p:sp>
      <p:sp>
        <p:nvSpPr>
          <p:cNvPr id="4" name="Shape 1"/>
          <p:cNvSpPr/>
          <p:nvPr/>
        </p:nvSpPr>
        <p:spPr>
          <a:xfrm>
            <a:off x="984553" y="292643"/>
            <a:ext cx="133350" cy="137160"/>
          </a:xfrm>
          <a:prstGeom prst="ellipse">
            <a:avLst/>
          </a:prstGeom>
          <a:solidFill>
            <a:srgbClr val="FFFFFF"/>
          </a:solidFill>
        </p:spPr>
      </p:sp>
      <p:sp>
        <p:nvSpPr>
          <p:cNvPr id="5" name="Shape 2"/>
          <p:cNvSpPr/>
          <p:nvPr/>
        </p:nvSpPr>
        <p:spPr>
          <a:xfrm>
            <a:off x="1184578" y="292643"/>
            <a:ext cx="133350" cy="137160"/>
          </a:xfrm>
          <a:prstGeom prst="ellipse">
            <a:avLst/>
          </a:prstGeom>
          <a:solidFill>
            <a:srgbClr val="FFFFFF"/>
          </a:solidFill>
        </p:spPr>
      </p:sp>
      <p:sp>
        <p:nvSpPr>
          <p:cNvPr id="6" name="Shape 3"/>
          <p:cNvSpPr/>
          <p:nvPr/>
        </p:nvSpPr>
        <p:spPr>
          <a:xfrm>
            <a:off x="1384603" y="292643"/>
            <a:ext cx="133350" cy="137160"/>
          </a:xfrm>
          <a:prstGeom prst="ellipse">
            <a:avLst/>
          </a:prstGeom>
          <a:solidFill>
            <a:srgbClr val="FFFFFF"/>
          </a:solidFill>
        </p:spPr>
      </p:sp>
      <p:sp>
        <p:nvSpPr>
          <p:cNvPr id="7" name="Shape 4"/>
          <p:cNvSpPr/>
          <p:nvPr/>
        </p:nvSpPr>
        <p:spPr>
          <a:xfrm>
            <a:off x="581166" y="1033166"/>
            <a:ext cx="133350" cy="137160"/>
          </a:xfrm>
          <a:prstGeom prst="ellipse">
            <a:avLst/>
          </a:prstGeom>
          <a:solidFill>
            <a:srgbClr val="FFFFFF"/>
          </a:solidFill>
        </p:spPr>
      </p:sp>
      <p:sp>
        <p:nvSpPr>
          <p:cNvPr id="8" name="Shape 5"/>
          <p:cNvSpPr/>
          <p:nvPr/>
        </p:nvSpPr>
        <p:spPr>
          <a:xfrm>
            <a:off x="581166" y="833141"/>
            <a:ext cx="133350" cy="137160"/>
          </a:xfrm>
          <a:prstGeom prst="ellipse">
            <a:avLst/>
          </a:prstGeom>
          <a:solidFill>
            <a:srgbClr val="FFFFFF"/>
          </a:solidFill>
        </p:spPr>
      </p:sp>
      <p:sp>
        <p:nvSpPr>
          <p:cNvPr id="9" name="Shape 6"/>
          <p:cNvSpPr/>
          <p:nvPr/>
        </p:nvSpPr>
        <p:spPr>
          <a:xfrm>
            <a:off x="581166" y="633116"/>
            <a:ext cx="133350" cy="137160"/>
          </a:xfrm>
          <a:prstGeom prst="ellipse">
            <a:avLst/>
          </a:prstGeom>
          <a:solidFill>
            <a:srgbClr val="FFFFFF"/>
          </a:solidFill>
        </p:spPr>
      </p:sp>
      <p:sp>
        <p:nvSpPr>
          <p:cNvPr id="10" name="Shape 7"/>
          <p:cNvSpPr/>
          <p:nvPr/>
        </p:nvSpPr>
        <p:spPr>
          <a:xfrm>
            <a:off x="581166" y="433092"/>
            <a:ext cx="133350" cy="137160"/>
          </a:xfrm>
          <a:prstGeom prst="ellipse">
            <a:avLst/>
          </a:prstGeom>
          <a:solidFill>
            <a:srgbClr val="FFFFFF"/>
          </a:solidFill>
        </p:spPr>
      </p:sp>
      <p:sp>
        <p:nvSpPr>
          <p:cNvPr id="11" name="Text 8"/>
          <p:cNvSpPr/>
          <p:nvPr/>
        </p:nvSpPr>
        <p:spPr>
          <a:xfrm>
            <a:off x="850900" y="546100"/>
            <a:ext cx="5697220" cy="1950085"/>
          </a:xfrm>
          <a:prstGeom prst="rect">
            <a:avLst/>
          </a:prstGeom>
          <a:noFill/>
        </p:spPr>
        <p:txBody>
          <a:bodyPr wrap="square" lIns="91440" tIns="45720" rIns="91440" bIns="45720" rtlCol="0" anchor="t"/>
          <a:lstStyle/>
          <a:p>
            <a:pPr algn="just">
              <a:lnSpc>
                <a:spcPct val="100000"/>
              </a:lnSpc>
            </a:pPr>
            <a:r>
              <a:rPr lang="en-US" sz="2400" dirty="0">
                <a:solidFill>
                  <a:srgbClr val="606C9A"/>
                </a:solidFill>
                <a:latin typeface="MiSans" pitchFamily="34" charset="-122"/>
                <a:ea typeface="MiSans" pitchFamily="34" charset="-122"/>
                <a:cs typeface="MiSans" pitchFamily="34" charset="-120"/>
              </a:rPr>
              <a:t>异步串口驱动三件套构建</a:t>
            </a:r>
            <a:endParaRPr lang="en-US" sz="1600" dirty="0"/>
          </a:p>
        </p:txBody>
      </p:sp>
      <p:sp>
        <p:nvSpPr>
          <p:cNvPr id="12" name="Shape 9"/>
          <p:cNvSpPr/>
          <p:nvPr/>
        </p:nvSpPr>
        <p:spPr>
          <a:xfrm>
            <a:off x="736801" y="2077016"/>
            <a:ext cx="228803" cy="212992"/>
          </a:xfrm>
          <a:prstGeom prst="ellipse">
            <a:avLst/>
          </a:prstGeom>
          <a:solidFill>
            <a:srgbClr val="000000">
              <a:alpha val="0"/>
            </a:srgbClr>
          </a:solidFill>
          <a:ln w="41275">
            <a:solidFill>
              <a:srgbClr val="FFFFFF"/>
            </a:solidFill>
            <a:prstDash val="solid"/>
          </a:ln>
        </p:spPr>
      </p:sp>
      <p:sp>
        <p:nvSpPr>
          <p:cNvPr id="13" name="Shape 10"/>
          <p:cNvSpPr/>
          <p:nvPr/>
        </p:nvSpPr>
        <p:spPr>
          <a:xfrm>
            <a:off x="813200" y="2117554"/>
            <a:ext cx="137562" cy="131914"/>
          </a:xfrm>
          <a:prstGeom prst="ellipse">
            <a:avLst/>
          </a:prstGeom>
          <a:solidFill>
            <a:srgbClr val="C1CEF6"/>
          </a:solidFill>
        </p:spPr>
      </p:sp>
      <p:sp>
        <p:nvSpPr>
          <p:cNvPr id="14" name="Shape 11"/>
          <p:cNvSpPr/>
          <p:nvPr/>
        </p:nvSpPr>
        <p:spPr>
          <a:xfrm>
            <a:off x="6600474" y="970939"/>
            <a:ext cx="228803" cy="212992"/>
          </a:xfrm>
          <a:prstGeom prst="ellipse">
            <a:avLst/>
          </a:prstGeom>
          <a:solidFill>
            <a:srgbClr val="000000">
              <a:alpha val="0"/>
            </a:srgbClr>
          </a:solidFill>
          <a:ln w="41275">
            <a:solidFill>
              <a:srgbClr val="FFFFFF"/>
            </a:solidFill>
            <a:prstDash val="solid"/>
          </a:ln>
        </p:spPr>
      </p:sp>
      <p:sp>
        <p:nvSpPr>
          <p:cNvPr id="15" name="Shape 12"/>
          <p:cNvSpPr/>
          <p:nvPr/>
        </p:nvSpPr>
        <p:spPr>
          <a:xfrm>
            <a:off x="6676873" y="1011477"/>
            <a:ext cx="137562" cy="131914"/>
          </a:xfrm>
          <a:prstGeom prst="ellipse">
            <a:avLst/>
          </a:prstGeom>
          <a:solidFill>
            <a:srgbClr val="C1CEF6"/>
          </a:solidFill>
        </p:spPr>
      </p:sp>
      <p:pic>
        <p:nvPicPr>
          <p:cNvPr id="16" name="Image 1" descr="https://kimi-img.moonshot.cn/pub/slides/slides_tmpl/image/25-08-27-20:04:47-d2nf8np8bjvh7rlj0b1g.jpeg"/>
          <p:cNvPicPr>
            <a:picLocks noChangeAspect="1"/>
          </p:cNvPicPr>
          <p:nvPr/>
        </p:nvPicPr>
        <p:blipFill>
          <a:blip r:embed="rId2"/>
          <a:stretch>
            <a:fillRect/>
          </a:stretch>
        </p:blipFill>
        <p:spPr>
          <a:xfrm>
            <a:off x="851203" y="3960796"/>
            <a:ext cx="5289402" cy="2986063"/>
          </a:xfrm>
          <a:prstGeom prst="rect">
            <a:avLst/>
          </a:prstGeom>
        </p:spPr>
      </p:pic>
      <p:sp>
        <p:nvSpPr>
          <p:cNvPr id="17" name="Shape 13"/>
          <p:cNvSpPr/>
          <p:nvPr/>
        </p:nvSpPr>
        <p:spPr>
          <a:xfrm>
            <a:off x="6600474" y="2929871"/>
            <a:ext cx="228803" cy="212992"/>
          </a:xfrm>
          <a:prstGeom prst="ellipse">
            <a:avLst/>
          </a:prstGeom>
          <a:solidFill>
            <a:srgbClr val="000000">
              <a:alpha val="0"/>
            </a:srgbClr>
          </a:solidFill>
          <a:ln w="41275">
            <a:solidFill>
              <a:srgbClr val="FFFFFF"/>
            </a:solidFill>
            <a:prstDash val="solid"/>
          </a:ln>
        </p:spPr>
      </p:sp>
      <p:sp>
        <p:nvSpPr>
          <p:cNvPr id="18" name="Shape 14"/>
          <p:cNvSpPr/>
          <p:nvPr/>
        </p:nvSpPr>
        <p:spPr>
          <a:xfrm>
            <a:off x="6676873" y="2970409"/>
            <a:ext cx="137562" cy="131914"/>
          </a:xfrm>
          <a:prstGeom prst="ellipse">
            <a:avLst/>
          </a:prstGeom>
          <a:solidFill>
            <a:srgbClr val="C1CEF6"/>
          </a:solidFill>
        </p:spPr>
      </p:sp>
      <p:sp>
        <p:nvSpPr>
          <p:cNvPr id="19" name="Shape 15"/>
          <p:cNvSpPr/>
          <p:nvPr/>
        </p:nvSpPr>
        <p:spPr>
          <a:xfrm>
            <a:off x="6600474" y="4814776"/>
            <a:ext cx="228803" cy="212992"/>
          </a:xfrm>
          <a:prstGeom prst="ellipse">
            <a:avLst/>
          </a:prstGeom>
          <a:solidFill>
            <a:srgbClr val="000000">
              <a:alpha val="0"/>
            </a:srgbClr>
          </a:solidFill>
          <a:ln w="41275">
            <a:solidFill>
              <a:srgbClr val="FFFFFF"/>
            </a:solidFill>
            <a:prstDash val="solid"/>
          </a:ln>
        </p:spPr>
      </p:sp>
      <p:sp>
        <p:nvSpPr>
          <p:cNvPr id="20" name="Shape 16"/>
          <p:cNvSpPr/>
          <p:nvPr/>
        </p:nvSpPr>
        <p:spPr>
          <a:xfrm>
            <a:off x="6676873" y="4855314"/>
            <a:ext cx="137562" cy="131914"/>
          </a:xfrm>
          <a:prstGeom prst="ellipse">
            <a:avLst/>
          </a:prstGeom>
          <a:solidFill>
            <a:srgbClr val="C1CEF6"/>
          </a:solidFill>
        </p:spPr>
      </p:sp>
      <p:sp>
        <p:nvSpPr>
          <p:cNvPr id="21" name="Text 17"/>
          <p:cNvSpPr/>
          <p:nvPr/>
        </p:nvSpPr>
        <p:spPr>
          <a:xfrm>
            <a:off x="1042003" y="2010460"/>
            <a:ext cx="5053997"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寄存器层验证：步长误用根因定位</a:t>
            </a:r>
            <a:endParaRPr lang="en-US" sz="1600" dirty="0"/>
          </a:p>
        </p:txBody>
      </p:sp>
      <p:sp>
        <p:nvSpPr>
          <p:cNvPr id="22" name="Text 18"/>
          <p:cNvSpPr/>
          <p:nvPr/>
        </p:nvSpPr>
        <p:spPr>
          <a:xfrm>
            <a:off x="851203" y="2423303"/>
            <a:ext cx="5289402" cy="1375331"/>
          </a:xfrm>
          <a:prstGeom prst="rect">
            <a:avLst/>
          </a:prstGeom>
          <a:noFill/>
        </p:spPr>
        <p:txBody>
          <a:bodyPr wrap="square" lIns="91440" tIns="45720" rIns="91440" bIns="45720" rtlCol="0" anchor="t">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NS16550 UART芯片仅8字节寄存器空间，早期因寄存器步长配置过大导致访问越界触发总线错误。排查一度误判为内存映射权限问题，阻塞近一周。最终通过同一页表映射内对比不同步长读取结果，确认真实根因为步长配置错误，确立先排查代码bug再考虑系统级问题的调试原则。</a:t>
            </a:r>
            <a:endParaRPr lang="en-US" sz="1600" dirty="0"/>
          </a:p>
        </p:txBody>
      </p:sp>
      <p:sp>
        <p:nvSpPr>
          <p:cNvPr id="23" name="Text 19"/>
          <p:cNvSpPr/>
          <p:nvPr/>
        </p:nvSpPr>
        <p:spPr>
          <a:xfrm>
            <a:off x="7059330" y="903627"/>
            <a:ext cx="4281467"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驱动三件套：环形缓冲区+ISR+后台搬运</a:t>
            </a:r>
            <a:endParaRPr lang="en-US" sz="1600" dirty="0"/>
          </a:p>
        </p:txBody>
      </p:sp>
      <p:sp>
        <p:nvSpPr>
          <p:cNvPr id="24" name="Text 20"/>
          <p:cNvSpPr/>
          <p:nvPr/>
        </p:nvSpPr>
        <p:spPr>
          <a:xfrm>
            <a:off x="7096125" y="1260475"/>
            <a:ext cx="4481195" cy="1636673"/>
          </a:xfrm>
          <a:prstGeom prst="rect">
            <a:avLst/>
          </a:prstGeom>
          <a:noFill/>
        </p:spPr>
        <p:txBody>
          <a:bodyPr wrap="square" lIns="91440" tIns="45720" rIns="91440" bIns="45720" rtlCol="0" anchor="t">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核心机制由三部分构成：环形缓冲区负责用户态与内核态字节缓冲，中断服务程序负责硬件事件第一时间响应，后台搬运任务负责FIFO与环形缓冲区间数据移动。关键设计是ISR只做唤醒不做数据搬运，搬运工作交给后台任务，保持ISR极简以缩短中断延迟，整套约500行代码全部位于内核自身模块。</a:t>
            </a:r>
            <a:endParaRPr lang="en-US" sz="1600" dirty="0"/>
          </a:p>
        </p:txBody>
      </p:sp>
      <p:sp>
        <p:nvSpPr>
          <p:cNvPr id="25" name="Text 21"/>
          <p:cNvSpPr/>
          <p:nvPr/>
        </p:nvSpPr>
        <p:spPr>
          <a:xfrm>
            <a:off x="7059330" y="2862559"/>
            <a:ext cx="4281467"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虚拟文件系统集成与终端层解耦</a:t>
            </a:r>
            <a:endParaRPr lang="en-US" sz="1600" dirty="0"/>
          </a:p>
        </p:txBody>
      </p:sp>
      <p:sp>
        <p:nvSpPr>
          <p:cNvPr id="26" name="Text 22"/>
          <p:cNvSpPr/>
          <p:nvPr/>
        </p:nvSpPr>
        <p:spPr>
          <a:xfrm>
            <a:off x="7096125" y="3219450"/>
            <a:ext cx="4481195" cy="1375331"/>
          </a:xfrm>
          <a:prstGeom prst="rect">
            <a:avLst/>
          </a:prstGeom>
          <a:noFill/>
        </p:spPr>
        <p:txBody>
          <a:bodyPr wrap="square" lIns="91440" tIns="45720" rIns="91440" bIns="45720" rtlCol="0" anchor="t">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将异步串口封装为标准设备节点，对接现有设备注册框架，使异步串口与项目内其他设备采用完全一致的接入方式。终端层通过泛型绑定替换reader和writer两个trait，整个终端栈无需修改即可切换到异步通路，实现驱动与终端栈的彻底解耦。</a:t>
            </a:r>
            <a:endParaRPr lang="en-US" sz="1600" dirty="0"/>
          </a:p>
        </p:txBody>
      </p:sp>
      <p:sp>
        <p:nvSpPr>
          <p:cNvPr id="27" name="Text 23"/>
          <p:cNvSpPr/>
          <p:nvPr/>
        </p:nvSpPr>
        <p:spPr>
          <a:xfrm>
            <a:off x="7059330" y="4747464"/>
            <a:ext cx="4281467"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Shell双向异步打通与通道共存</a:t>
            </a:r>
            <a:endParaRPr lang="en-US" sz="1600" dirty="0"/>
          </a:p>
        </p:txBody>
      </p:sp>
      <p:sp>
        <p:nvSpPr>
          <p:cNvPr id="28" name="Text 24"/>
          <p:cNvSpPr/>
          <p:nvPr/>
        </p:nvSpPr>
        <p:spPr>
          <a:xfrm>
            <a:off x="7096125" y="5104130"/>
            <a:ext cx="4481195" cy="1636673"/>
          </a:xfrm>
          <a:prstGeom prst="rect">
            <a:avLst/>
          </a:prstGeom>
          <a:noFill/>
        </p:spPr>
        <p:txBody>
          <a:bodyPr wrap="square" lIns="91440" tIns="45720" rIns="91440" bIns="45720" rtlCol="0" anchor="t">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接收方向：中断唤醒后台搬运任务填充环形缓冲区，用户态Shell从缓冲区读取，整条链路无阻塞。发送方向：用户态写入环形缓冲区，后台搬运任务送入硬件FIFO。内核日志通道与异步通道共享同一UART硬件但互不冲突，实现内核日志同步输出、用户态Shell异步交互的共存架构。</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C7D5FC"/>
            </a:gs>
            <a:gs pos="0">
              <a:srgbClr val="C7D5FC"/>
            </a:gs>
            <a:gs pos="55000">
              <a:srgbClr val="D8E1FD"/>
            </a:gs>
            <a:gs pos="62000">
              <a:srgbClr val="D5DFFD"/>
            </a:gs>
            <a:gs pos="100000">
              <a:srgbClr val="D8E1FD"/>
            </a:gs>
            <a:gs pos="100000">
              <a:srgbClr val="FFF2C6"/>
            </a:gs>
          </a:gsLst>
          <a:lin ang="7200000" scaled="1"/>
        </a:gradFill>
        <a:effectLst/>
      </p:bgPr>
    </p:bg>
    <p:spTree>
      <p:nvGrpSpPr>
        <p:cNvPr id="1" name=""/>
        <p:cNvGrpSpPr/>
        <p:nvPr/>
      </p:nvGrpSpPr>
      <p:grpSpPr>
        <a:xfrm>
          <a:off x="0" y="0"/>
          <a:ext cx="0" cy="0"/>
          <a:chOff x="0" y="0"/>
          <a:chExt cx="0" cy="0"/>
        </a:xfrm>
      </p:grpSpPr>
      <p:sp>
        <p:nvSpPr>
          <p:cNvPr id="2" name="Shape 0"/>
          <p:cNvSpPr/>
          <p:nvPr/>
        </p:nvSpPr>
        <p:spPr>
          <a:xfrm>
            <a:off x="852073" y="451722"/>
            <a:ext cx="133350" cy="137160"/>
          </a:xfrm>
          <a:prstGeom prst="ellipse">
            <a:avLst/>
          </a:prstGeom>
          <a:solidFill>
            <a:srgbClr val="FFFFFF"/>
          </a:solidFill>
        </p:spPr>
      </p:sp>
      <p:sp>
        <p:nvSpPr>
          <p:cNvPr id="3" name="Shape 1"/>
          <p:cNvSpPr/>
          <p:nvPr/>
        </p:nvSpPr>
        <p:spPr>
          <a:xfrm>
            <a:off x="1052098" y="451722"/>
            <a:ext cx="133350" cy="137160"/>
          </a:xfrm>
          <a:prstGeom prst="ellipse">
            <a:avLst/>
          </a:prstGeom>
          <a:solidFill>
            <a:srgbClr val="FFFFFF"/>
          </a:solidFill>
        </p:spPr>
      </p:sp>
      <p:sp>
        <p:nvSpPr>
          <p:cNvPr id="4" name="Shape 2"/>
          <p:cNvSpPr/>
          <p:nvPr/>
        </p:nvSpPr>
        <p:spPr>
          <a:xfrm>
            <a:off x="1252123" y="451722"/>
            <a:ext cx="133350" cy="137160"/>
          </a:xfrm>
          <a:prstGeom prst="ellipse">
            <a:avLst/>
          </a:prstGeom>
          <a:solidFill>
            <a:srgbClr val="FFFFFF"/>
          </a:solidFill>
        </p:spPr>
      </p:sp>
      <p:sp>
        <p:nvSpPr>
          <p:cNvPr id="5" name="Shape 3"/>
          <p:cNvSpPr/>
          <p:nvPr/>
        </p:nvSpPr>
        <p:spPr>
          <a:xfrm>
            <a:off x="1452148" y="451722"/>
            <a:ext cx="133350" cy="137160"/>
          </a:xfrm>
          <a:prstGeom prst="ellipse">
            <a:avLst/>
          </a:prstGeom>
          <a:solidFill>
            <a:srgbClr val="FFFFFF"/>
          </a:solidFill>
        </p:spPr>
      </p:sp>
      <p:sp>
        <p:nvSpPr>
          <p:cNvPr id="6" name="Shape 4"/>
          <p:cNvSpPr/>
          <p:nvPr/>
        </p:nvSpPr>
        <p:spPr>
          <a:xfrm>
            <a:off x="648711" y="1192246"/>
            <a:ext cx="133350" cy="137160"/>
          </a:xfrm>
          <a:prstGeom prst="ellipse">
            <a:avLst/>
          </a:prstGeom>
          <a:solidFill>
            <a:srgbClr val="FFFFFF"/>
          </a:solidFill>
        </p:spPr>
      </p:sp>
      <p:sp>
        <p:nvSpPr>
          <p:cNvPr id="7" name="Shape 5"/>
          <p:cNvSpPr/>
          <p:nvPr/>
        </p:nvSpPr>
        <p:spPr>
          <a:xfrm>
            <a:off x="648711" y="992220"/>
            <a:ext cx="133350" cy="137160"/>
          </a:xfrm>
          <a:prstGeom prst="ellipse">
            <a:avLst/>
          </a:prstGeom>
          <a:solidFill>
            <a:srgbClr val="FFFFFF"/>
          </a:solidFill>
        </p:spPr>
      </p:sp>
      <p:sp>
        <p:nvSpPr>
          <p:cNvPr id="8" name="Shape 6"/>
          <p:cNvSpPr/>
          <p:nvPr/>
        </p:nvSpPr>
        <p:spPr>
          <a:xfrm>
            <a:off x="648711" y="792195"/>
            <a:ext cx="133350" cy="137160"/>
          </a:xfrm>
          <a:prstGeom prst="ellipse">
            <a:avLst/>
          </a:prstGeom>
          <a:solidFill>
            <a:srgbClr val="FFFFFF"/>
          </a:solidFill>
        </p:spPr>
      </p:sp>
      <p:sp>
        <p:nvSpPr>
          <p:cNvPr id="9" name="Shape 7"/>
          <p:cNvSpPr/>
          <p:nvPr/>
        </p:nvSpPr>
        <p:spPr>
          <a:xfrm>
            <a:off x="648711" y="592171"/>
            <a:ext cx="133350" cy="137160"/>
          </a:xfrm>
          <a:prstGeom prst="ellipse">
            <a:avLst/>
          </a:prstGeom>
          <a:solidFill>
            <a:srgbClr val="FFFFFF"/>
          </a:solidFill>
        </p:spPr>
      </p:sp>
      <p:sp>
        <p:nvSpPr>
          <p:cNvPr id="10" name="Text 8"/>
          <p:cNvSpPr/>
          <p:nvPr/>
        </p:nvSpPr>
        <p:spPr>
          <a:xfrm>
            <a:off x="786130" y="692150"/>
            <a:ext cx="3129915" cy="2105660"/>
          </a:xfrm>
          <a:prstGeom prst="rect">
            <a:avLst/>
          </a:prstGeom>
          <a:noFill/>
        </p:spPr>
        <p:txBody>
          <a:bodyPr wrap="square" lIns="91440" tIns="45720" rIns="91440" bIns="45720" rtlCol="0" anchor="t"/>
          <a:lstStyle/>
          <a:p>
            <a:pPr algn="just">
              <a:lnSpc>
                <a:spcPct val="100000"/>
              </a:lnSpc>
            </a:pPr>
            <a:r>
              <a:rPr lang="en-US" sz="2400" dirty="0">
                <a:solidFill>
                  <a:srgbClr val="606C9A"/>
                </a:solidFill>
                <a:latin typeface="MiSans" pitchFamily="34" charset="-122"/>
                <a:ea typeface="MiSans" pitchFamily="34" charset="-122"/>
                <a:cs typeface="MiSans" pitchFamily="34" charset="-120"/>
              </a:rPr>
              <a:t>性能优化与正确性修复</a:t>
            </a:r>
            <a:endParaRPr lang="en-US" sz="1600" dirty="0"/>
          </a:p>
        </p:txBody>
      </p:sp>
      <p:sp>
        <p:nvSpPr>
          <p:cNvPr id="11" name="Shape 9"/>
          <p:cNvSpPr/>
          <p:nvPr/>
        </p:nvSpPr>
        <p:spPr>
          <a:xfrm>
            <a:off x="304197" y="6581156"/>
            <a:ext cx="133350" cy="137160"/>
          </a:xfrm>
          <a:prstGeom prst="ellipse">
            <a:avLst/>
          </a:prstGeom>
          <a:solidFill>
            <a:srgbClr val="FFFFFF"/>
          </a:solidFill>
        </p:spPr>
      </p:sp>
      <p:sp>
        <p:nvSpPr>
          <p:cNvPr id="12" name="Shape 10"/>
          <p:cNvSpPr/>
          <p:nvPr/>
        </p:nvSpPr>
        <p:spPr>
          <a:xfrm>
            <a:off x="304197" y="6381131"/>
            <a:ext cx="133350" cy="137160"/>
          </a:xfrm>
          <a:prstGeom prst="ellipse">
            <a:avLst/>
          </a:prstGeom>
          <a:solidFill>
            <a:srgbClr val="FFFFFF"/>
          </a:solidFill>
        </p:spPr>
      </p:sp>
      <p:sp>
        <p:nvSpPr>
          <p:cNvPr id="13" name="Shape 11"/>
          <p:cNvSpPr/>
          <p:nvPr/>
        </p:nvSpPr>
        <p:spPr>
          <a:xfrm>
            <a:off x="304197" y="6181105"/>
            <a:ext cx="133350" cy="137160"/>
          </a:xfrm>
          <a:prstGeom prst="ellipse">
            <a:avLst/>
          </a:prstGeom>
          <a:solidFill>
            <a:srgbClr val="FFFFFF"/>
          </a:solidFill>
        </p:spPr>
      </p:sp>
      <p:sp>
        <p:nvSpPr>
          <p:cNvPr id="14" name="Shape 12"/>
          <p:cNvSpPr/>
          <p:nvPr/>
        </p:nvSpPr>
        <p:spPr>
          <a:xfrm>
            <a:off x="304197" y="5981081"/>
            <a:ext cx="133350" cy="137160"/>
          </a:xfrm>
          <a:prstGeom prst="ellipse">
            <a:avLst/>
          </a:prstGeom>
          <a:solidFill>
            <a:srgbClr val="FFFFFF"/>
          </a:solidFill>
        </p:spPr>
      </p:sp>
      <p:sp>
        <p:nvSpPr>
          <p:cNvPr id="15" name="Shape 13"/>
          <p:cNvSpPr/>
          <p:nvPr/>
        </p:nvSpPr>
        <p:spPr>
          <a:xfrm>
            <a:off x="304197" y="5728704"/>
            <a:ext cx="133350" cy="137160"/>
          </a:xfrm>
          <a:prstGeom prst="ellipse">
            <a:avLst/>
          </a:prstGeom>
          <a:solidFill>
            <a:srgbClr val="FFFFFF"/>
          </a:solidFill>
        </p:spPr>
      </p:sp>
      <p:sp>
        <p:nvSpPr>
          <p:cNvPr id="16" name="Shape 14"/>
          <p:cNvSpPr/>
          <p:nvPr/>
        </p:nvSpPr>
        <p:spPr>
          <a:xfrm>
            <a:off x="304197" y="5528679"/>
            <a:ext cx="133350" cy="137160"/>
          </a:xfrm>
          <a:prstGeom prst="ellipse">
            <a:avLst/>
          </a:prstGeom>
          <a:solidFill>
            <a:srgbClr val="FFFFFF"/>
          </a:solidFill>
        </p:spPr>
      </p:sp>
      <p:sp>
        <p:nvSpPr>
          <p:cNvPr id="17" name="Shape 15"/>
          <p:cNvSpPr/>
          <p:nvPr/>
        </p:nvSpPr>
        <p:spPr>
          <a:xfrm>
            <a:off x="304197" y="5328653"/>
            <a:ext cx="133350" cy="137160"/>
          </a:xfrm>
          <a:prstGeom prst="ellipse">
            <a:avLst/>
          </a:prstGeom>
          <a:solidFill>
            <a:srgbClr val="FFFFFF"/>
          </a:solidFill>
        </p:spPr>
      </p:sp>
      <p:sp>
        <p:nvSpPr>
          <p:cNvPr id="18" name="Shape 16"/>
          <p:cNvSpPr/>
          <p:nvPr/>
        </p:nvSpPr>
        <p:spPr>
          <a:xfrm>
            <a:off x="304197" y="5128629"/>
            <a:ext cx="133350" cy="137160"/>
          </a:xfrm>
          <a:prstGeom prst="ellipse">
            <a:avLst/>
          </a:prstGeom>
          <a:solidFill>
            <a:srgbClr val="FFFFFF"/>
          </a:solidFill>
        </p:spPr>
      </p:sp>
      <p:sp>
        <p:nvSpPr>
          <p:cNvPr id="19" name="Shape 17"/>
          <p:cNvSpPr/>
          <p:nvPr/>
        </p:nvSpPr>
        <p:spPr>
          <a:xfrm>
            <a:off x="13754341" y="520302"/>
            <a:ext cx="4236501" cy="5107037"/>
          </a:xfrm>
          <a:prstGeom prst="rect">
            <a:avLst/>
          </a:prstGeom>
          <a:solidFill>
            <a:srgbClr val="A4CCEE"/>
          </a:solidFill>
        </p:spPr>
      </p:sp>
      <p:sp>
        <p:nvSpPr>
          <p:cNvPr id="20" name="Shape 18"/>
          <p:cNvSpPr/>
          <p:nvPr/>
        </p:nvSpPr>
        <p:spPr>
          <a:xfrm>
            <a:off x="7758015" y="543636"/>
            <a:ext cx="228803" cy="212992"/>
          </a:xfrm>
          <a:prstGeom prst="ellipse">
            <a:avLst/>
          </a:prstGeom>
          <a:solidFill>
            <a:srgbClr val="000000">
              <a:alpha val="0"/>
            </a:srgbClr>
          </a:solidFill>
          <a:ln w="41275">
            <a:solidFill>
              <a:srgbClr val="FFFFFF"/>
            </a:solidFill>
            <a:prstDash val="solid"/>
          </a:ln>
        </p:spPr>
      </p:sp>
      <p:sp>
        <p:nvSpPr>
          <p:cNvPr id="21" name="Shape 19"/>
          <p:cNvSpPr/>
          <p:nvPr/>
        </p:nvSpPr>
        <p:spPr>
          <a:xfrm>
            <a:off x="7834414" y="584174"/>
            <a:ext cx="137562" cy="131914"/>
          </a:xfrm>
          <a:prstGeom prst="ellipse">
            <a:avLst/>
          </a:prstGeom>
          <a:solidFill>
            <a:srgbClr val="C1CEF6"/>
          </a:solidFill>
        </p:spPr>
      </p:sp>
      <p:sp>
        <p:nvSpPr>
          <p:cNvPr id="22" name="Shape 20"/>
          <p:cNvSpPr/>
          <p:nvPr/>
        </p:nvSpPr>
        <p:spPr>
          <a:xfrm>
            <a:off x="7758015" y="2652946"/>
            <a:ext cx="228803" cy="212992"/>
          </a:xfrm>
          <a:prstGeom prst="ellipse">
            <a:avLst/>
          </a:prstGeom>
          <a:solidFill>
            <a:srgbClr val="000000">
              <a:alpha val="0"/>
            </a:srgbClr>
          </a:solidFill>
          <a:ln w="41275">
            <a:solidFill>
              <a:srgbClr val="FFFFFF"/>
            </a:solidFill>
            <a:prstDash val="solid"/>
          </a:ln>
        </p:spPr>
      </p:sp>
      <p:sp>
        <p:nvSpPr>
          <p:cNvPr id="23" name="Shape 21"/>
          <p:cNvSpPr/>
          <p:nvPr/>
        </p:nvSpPr>
        <p:spPr>
          <a:xfrm>
            <a:off x="7834414" y="2693484"/>
            <a:ext cx="137562" cy="131914"/>
          </a:xfrm>
          <a:prstGeom prst="ellipse">
            <a:avLst/>
          </a:prstGeom>
          <a:solidFill>
            <a:srgbClr val="C1CEF6"/>
          </a:solidFill>
        </p:spPr>
      </p:sp>
      <p:sp>
        <p:nvSpPr>
          <p:cNvPr id="24" name="Shape 22"/>
          <p:cNvSpPr/>
          <p:nvPr/>
        </p:nvSpPr>
        <p:spPr>
          <a:xfrm>
            <a:off x="7764125" y="4762257"/>
            <a:ext cx="228803" cy="212992"/>
          </a:xfrm>
          <a:prstGeom prst="ellipse">
            <a:avLst/>
          </a:prstGeom>
          <a:solidFill>
            <a:srgbClr val="000000">
              <a:alpha val="0"/>
            </a:srgbClr>
          </a:solidFill>
          <a:ln w="41275">
            <a:solidFill>
              <a:srgbClr val="FFFFFF"/>
            </a:solidFill>
            <a:prstDash val="solid"/>
          </a:ln>
        </p:spPr>
      </p:sp>
      <p:sp>
        <p:nvSpPr>
          <p:cNvPr id="25" name="Shape 23"/>
          <p:cNvSpPr/>
          <p:nvPr/>
        </p:nvSpPr>
        <p:spPr>
          <a:xfrm>
            <a:off x="7840524" y="4802795"/>
            <a:ext cx="137562" cy="131914"/>
          </a:xfrm>
          <a:prstGeom prst="ellipse">
            <a:avLst/>
          </a:prstGeom>
          <a:solidFill>
            <a:srgbClr val="C1CEF6"/>
          </a:solidFill>
        </p:spPr>
      </p:sp>
      <p:pic>
        <p:nvPicPr>
          <p:cNvPr id="26" name="Image 0" descr="https://kimi-img.moonshot.cn/pub/slides/slides_tmpl/image/25-08-27-20:04:43-d2nf8mp8bjvh7rlj0aog.jpeg"/>
          <p:cNvPicPr>
            <a:picLocks noChangeAspect="1"/>
          </p:cNvPicPr>
          <p:nvPr/>
        </p:nvPicPr>
        <p:blipFill>
          <a:blip r:embed="rId1"/>
          <a:stretch>
            <a:fillRect/>
          </a:stretch>
        </p:blipFill>
        <p:spPr>
          <a:xfrm>
            <a:off x="4236885" y="-4561"/>
            <a:ext cx="3251844" cy="5781056"/>
          </a:xfrm>
          <a:prstGeom prst="rect">
            <a:avLst/>
          </a:prstGeom>
        </p:spPr>
      </p:pic>
      <p:pic>
        <p:nvPicPr>
          <p:cNvPr id="27" name="Image 1" descr="https://kimi-img.moonshot.cn/pub/slides/slides_tmpl/image/25-08-27-20:04:44-d2nf8n18bjvh7rlj0apg.jpeg"/>
          <p:cNvPicPr>
            <a:picLocks noChangeAspect="1"/>
          </p:cNvPicPr>
          <p:nvPr/>
        </p:nvPicPr>
        <p:blipFill>
          <a:blip r:embed="rId2"/>
          <a:stretch>
            <a:fillRect/>
          </a:stretch>
        </p:blipFill>
        <p:spPr>
          <a:xfrm>
            <a:off x="1052098" y="3059533"/>
            <a:ext cx="2843343" cy="3791124"/>
          </a:xfrm>
          <a:prstGeom prst="rect">
            <a:avLst/>
          </a:prstGeom>
        </p:spPr>
      </p:pic>
      <p:sp>
        <p:nvSpPr>
          <p:cNvPr id="28" name="Text 24"/>
          <p:cNvSpPr/>
          <p:nvPr/>
        </p:nvSpPr>
        <p:spPr>
          <a:xfrm>
            <a:off x="8025250" y="502873"/>
            <a:ext cx="3835409"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热路径五项核心优化</a:t>
            </a:r>
            <a:endParaRPr lang="en-US" sz="1600" dirty="0"/>
          </a:p>
        </p:txBody>
      </p:sp>
      <p:sp>
        <p:nvSpPr>
          <p:cNvPr id="29" name="Text 25"/>
          <p:cNvSpPr/>
          <p:nvPr/>
        </p:nvSpPr>
        <p:spPr>
          <a:xfrm>
            <a:off x="7766685" y="963930"/>
            <a:ext cx="4164330" cy="1898015"/>
          </a:xfrm>
          <a:prstGeom prst="rect">
            <a:avLst/>
          </a:prstGeom>
          <a:noFill/>
        </p:spPr>
        <p:txBody>
          <a:bodyPr wrap="square" lIns="91440" tIns="45720" rIns="91440" bIns="45720" rtlCol="0" anchor="t">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对中断处理路径实施五项优化：IER值缓存为原子变量将读改写转化为单次写入；收发方向使用独立锁消除读写伪竞争；批量读写接口替代逐字节操作；唤醒机制加入重复检测避免无意义唤醒；连续成功达到阈值后切换轮询模式，高吞吐场景减少九成以上中断次数。统一数据量下CPU占用效率相对原同步实现提升约14倍。</a:t>
            </a:r>
            <a:endParaRPr lang="en-US" sz="1600" dirty="0"/>
          </a:p>
        </p:txBody>
      </p:sp>
      <p:sp>
        <p:nvSpPr>
          <p:cNvPr id="30" name="Text 26"/>
          <p:cNvSpPr/>
          <p:nvPr/>
        </p:nvSpPr>
        <p:spPr>
          <a:xfrm>
            <a:off x="8025250" y="2612183"/>
            <a:ext cx="3835409"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三轮关键正确性修复</a:t>
            </a:r>
            <a:endParaRPr lang="en-US" sz="1600" dirty="0"/>
          </a:p>
        </p:txBody>
      </p:sp>
      <p:sp>
        <p:nvSpPr>
          <p:cNvPr id="31" name="Text 27"/>
          <p:cNvSpPr/>
          <p:nvPr/>
        </p:nvSpPr>
        <p:spPr>
          <a:xfrm>
            <a:off x="7766685" y="3073400"/>
            <a:ext cx="4164330" cy="1636673"/>
          </a:xfrm>
          <a:prstGeom prst="rect">
            <a:avLst/>
          </a:prstGeom>
          <a:noFill/>
        </p:spPr>
        <p:txBody>
          <a:bodyPr wrap="square" lIns="91440" tIns="45720" rIns="91440" bIns="45720" rtlCol="0" anchor="t">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第一项修复中断合并模式退出缺陷：轮询模式下计数器只增不减导致空数据时CPU空转。第二项修复ISR持有自旋锁违反极简原则，修复后ISR全程不再获取任何锁。第三项修复中断使能寄存器写入绕过底层驱动库安全API，通过新增公开寄存器写入方法统一所有写入路径，消除规则违规。</a:t>
            </a:r>
            <a:endParaRPr lang="en-US" sz="1600" dirty="0"/>
          </a:p>
        </p:txBody>
      </p:sp>
      <p:sp>
        <p:nvSpPr>
          <p:cNvPr id="32" name="Text 28"/>
          <p:cNvSpPr/>
          <p:nvPr/>
        </p:nvSpPr>
        <p:spPr>
          <a:xfrm>
            <a:off x="8031360" y="4721494"/>
            <a:ext cx="3835409"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五轮迭代优化与延迟下降</a:t>
            </a:r>
            <a:endParaRPr lang="en-US" sz="1600" dirty="0"/>
          </a:p>
        </p:txBody>
      </p:sp>
      <p:sp>
        <p:nvSpPr>
          <p:cNvPr id="33" name="Text 29"/>
          <p:cNvSpPr/>
          <p:nvPr/>
        </p:nvSpPr>
        <p:spPr>
          <a:xfrm>
            <a:off x="7773035" y="5182870"/>
            <a:ext cx="4237355" cy="1636673"/>
          </a:xfrm>
          <a:prstGeom prst="rect">
            <a:avLst/>
          </a:prstGeom>
          <a:noFill/>
        </p:spPr>
        <p:txBody>
          <a:bodyPr wrap="square" lIns="91440" tIns="45720" rIns="91440" bIns="45720" rtlCol="0" anchor="t">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在正确性修复基础上进行五轮优化：数据路径批量写入改造、缓冲容量扩充三倍、行规则模块锁粒度细化、终端与内存子系统一般性优化、借鉴主流异步串口库的三项去锁和接口标准化改造。单字节延迟从约145微秒逐步降至约118微秒，软件开销峰值下降约四成。</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38-d2nf8lh8bjvh7rlj0aeg.png"/>
          <p:cNvPicPr>
            <a:picLocks noChangeAspect="1"/>
          </p:cNvPicPr>
          <p:nvPr/>
        </p:nvPicPr>
        <p:blipFill>
          <a:blip r:embed="rId1"/>
          <a:stretch>
            <a:fillRect/>
          </a:stretch>
        </p:blipFill>
        <p:spPr>
          <a:xfrm>
            <a:off x="4928399" y="517692"/>
            <a:ext cx="7251700" cy="6340308"/>
          </a:xfrm>
          <a:prstGeom prst="rect">
            <a:avLst/>
          </a:prstGeom>
        </p:spPr>
      </p:pic>
      <p:sp>
        <p:nvSpPr>
          <p:cNvPr id="3" name="Text 0"/>
          <p:cNvSpPr/>
          <p:nvPr/>
        </p:nvSpPr>
        <p:spPr>
          <a:xfrm>
            <a:off x="7048502" y="2308860"/>
            <a:ext cx="4599086" cy="3952042"/>
          </a:xfrm>
          <a:prstGeom prst="rect">
            <a:avLst/>
          </a:prstGeom>
          <a:noFill/>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122"/>
                <a:ea typeface="MiSans" pitchFamily="34" charset="-122"/>
                <a:cs typeface="MiSans" pitchFamily="34" charset="-120"/>
              </a:rPr>
              <a:t>03</a:t>
            </a:r>
            <a:endParaRPr lang="en-US" sz="1600" dirty="0"/>
          </a:p>
        </p:txBody>
      </p:sp>
      <p:sp>
        <p:nvSpPr>
          <p:cNvPr id="4" name="Text 1"/>
          <p:cNvSpPr/>
          <p:nvPr/>
        </p:nvSpPr>
        <p:spPr>
          <a:xfrm>
            <a:off x="797560" y="1932305"/>
            <a:ext cx="10755630" cy="714931"/>
          </a:xfrm>
          <a:prstGeom prst="rect">
            <a:avLst/>
          </a:prstGeom>
          <a:noFill/>
        </p:spPr>
        <p:txBody>
          <a:bodyPr wrap="square" lIns="91440" tIns="45720" rIns="91440" bIns="45720" rtlCol="0" anchor="ctr">
            <a:spAutoFit/>
          </a:bodyPr>
          <a:lstStyle/>
          <a:p>
            <a:pPr>
              <a:lnSpc>
                <a:spcPct val="100000"/>
              </a:lnSpc>
            </a:pPr>
            <a:r>
              <a:rPr lang="en-US" sz="4000" dirty="0">
                <a:solidFill>
                  <a:srgbClr val="6D7AAF"/>
                </a:solidFill>
                <a:latin typeface="MiSans" pitchFamily="34" charset="-122"/>
                <a:ea typeface="MiSans" pitchFamily="34" charset="-122"/>
                <a:cs typeface="MiSans" pitchFamily="34" charset="-120"/>
              </a:rPr>
              <a:t>量化成果展示</a:t>
            </a:r>
            <a:endParaRPr lang="en-US" sz="1600" dirty="0"/>
          </a:p>
        </p:txBody>
      </p:sp>
      <p:sp>
        <p:nvSpPr>
          <p:cNvPr id="5" name="Shape 2"/>
          <p:cNvSpPr/>
          <p:nvPr/>
        </p:nvSpPr>
        <p:spPr>
          <a:xfrm>
            <a:off x="731049" y="856006"/>
            <a:ext cx="133350" cy="137160"/>
          </a:xfrm>
          <a:prstGeom prst="ellipse">
            <a:avLst/>
          </a:prstGeom>
          <a:solidFill>
            <a:srgbClr val="FFFFFF"/>
          </a:solidFill>
        </p:spPr>
      </p:sp>
      <p:sp>
        <p:nvSpPr>
          <p:cNvPr id="6" name="Shape 3"/>
          <p:cNvSpPr/>
          <p:nvPr/>
        </p:nvSpPr>
        <p:spPr>
          <a:xfrm>
            <a:off x="931074" y="856006"/>
            <a:ext cx="133350" cy="137160"/>
          </a:xfrm>
          <a:prstGeom prst="ellipse">
            <a:avLst/>
          </a:prstGeom>
          <a:solidFill>
            <a:srgbClr val="FFFFFF"/>
          </a:solidFill>
        </p:spPr>
      </p:sp>
      <p:sp>
        <p:nvSpPr>
          <p:cNvPr id="7" name="Shape 4"/>
          <p:cNvSpPr/>
          <p:nvPr/>
        </p:nvSpPr>
        <p:spPr>
          <a:xfrm>
            <a:off x="1131099" y="856006"/>
            <a:ext cx="133350" cy="137160"/>
          </a:xfrm>
          <a:prstGeom prst="ellipse">
            <a:avLst/>
          </a:prstGeom>
          <a:solidFill>
            <a:srgbClr val="FFFFFF"/>
          </a:solidFill>
        </p:spPr>
      </p:sp>
      <p:sp>
        <p:nvSpPr>
          <p:cNvPr id="8" name="Shape 5"/>
          <p:cNvSpPr/>
          <p:nvPr/>
        </p:nvSpPr>
        <p:spPr>
          <a:xfrm>
            <a:off x="1331124" y="856006"/>
            <a:ext cx="133350" cy="137160"/>
          </a:xfrm>
          <a:prstGeom prst="ellipse">
            <a:avLst/>
          </a:prstGeom>
          <a:solidFill>
            <a:srgbClr val="FFFFFF"/>
          </a:solidFill>
        </p:spPr>
      </p:sp>
      <p:sp>
        <p:nvSpPr>
          <p:cNvPr id="9" name="Shape 6"/>
          <p:cNvSpPr/>
          <p:nvPr/>
        </p:nvSpPr>
        <p:spPr>
          <a:xfrm>
            <a:off x="527687" y="1596530"/>
            <a:ext cx="133350" cy="137160"/>
          </a:xfrm>
          <a:prstGeom prst="ellipse">
            <a:avLst/>
          </a:prstGeom>
          <a:solidFill>
            <a:srgbClr val="FFFFFF"/>
          </a:solidFill>
        </p:spPr>
      </p:sp>
      <p:sp>
        <p:nvSpPr>
          <p:cNvPr id="10" name="Shape 7"/>
          <p:cNvSpPr/>
          <p:nvPr/>
        </p:nvSpPr>
        <p:spPr>
          <a:xfrm>
            <a:off x="527687" y="1396504"/>
            <a:ext cx="133350" cy="137160"/>
          </a:xfrm>
          <a:prstGeom prst="ellipse">
            <a:avLst/>
          </a:prstGeom>
          <a:solidFill>
            <a:srgbClr val="FFFFFF"/>
          </a:solidFill>
        </p:spPr>
      </p:sp>
      <p:sp>
        <p:nvSpPr>
          <p:cNvPr id="11" name="Shape 8"/>
          <p:cNvSpPr/>
          <p:nvPr/>
        </p:nvSpPr>
        <p:spPr>
          <a:xfrm>
            <a:off x="527687" y="1196479"/>
            <a:ext cx="133350" cy="137160"/>
          </a:xfrm>
          <a:prstGeom prst="ellipse">
            <a:avLst/>
          </a:prstGeom>
          <a:solidFill>
            <a:srgbClr val="FFFFFF"/>
          </a:solidFill>
        </p:spPr>
      </p:sp>
      <p:sp>
        <p:nvSpPr>
          <p:cNvPr id="12" name="Shape 9"/>
          <p:cNvSpPr/>
          <p:nvPr/>
        </p:nvSpPr>
        <p:spPr>
          <a:xfrm>
            <a:off x="527687" y="996455"/>
            <a:ext cx="133350" cy="137160"/>
          </a:xfrm>
          <a:prstGeom prst="ellipse">
            <a:avLst/>
          </a:prstGeom>
          <a:solidFill>
            <a:srgbClr val="FFFFFF"/>
          </a:solidFill>
        </p:spPr>
      </p:sp>
      <p:pic>
        <p:nvPicPr>
          <p:cNvPr id="13" name="Image 1" descr="https://kimi-img.moonshot.cn/pub/slides/slides_tmpl/image/25-08-27-20:04:34-d2nf8kh8bjvh7rlj0a80.png"/>
          <p:cNvPicPr>
            <a:picLocks noChangeAspect="1"/>
          </p:cNvPicPr>
          <p:nvPr/>
        </p:nvPicPr>
        <p:blipFill>
          <a:blip r:embed="rId2">
            <a:alphaModFix amt="59000"/>
          </a:blip>
          <a:stretch>
            <a:fillRect/>
          </a:stretch>
        </p:blipFill>
        <p:spPr>
          <a:xfrm>
            <a:off x="5131435" y="330200"/>
            <a:ext cx="7048500" cy="6197600"/>
          </a:xfrm>
          <a:prstGeom prst="rect">
            <a:avLst/>
          </a:prstGeom>
        </p:spPr>
      </p:pic>
      <p:pic>
        <p:nvPicPr>
          <p:cNvPr id="14" name="Image 2" descr="https://kimi-img.moonshot.cn/pub/slides/slides_tmpl/image/25-08-27-20:04:33-d2nf8k98bjvh7rlj0a7g.png"/>
          <p:cNvPicPr>
            <a:picLocks noChangeAspect="1"/>
          </p:cNvPicPr>
          <p:nvPr/>
        </p:nvPicPr>
        <p:blipFill>
          <a:blip r:embed="rId3"/>
          <a:stretch>
            <a:fillRect/>
          </a:stretch>
        </p:blipFill>
        <p:spPr>
          <a:xfrm>
            <a:off x="0" y="3797300"/>
            <a:ext cx="5143500" cy="3060700"/>
          </a:xfrm>
          <a:prstGeom prst="rect">
            <a:avLst/>
          </a:prstGeom>
        </p:spPr>
      </p:pic>
      <p:pic>
        <p:nvPicPr>
          <p:cNvPr id="15" name="Image 3" descr="https://kimi-img.moonshot.cn/pub/slides/slides_tmpl/image/25-08-27-20:04:32-d2nf8k18bjvh7rlj0a5g.png"/>
          <p:cNvPicPr>
            <a:picLocks noChangeAspect="1"/>
          </p:cNvPicPr>
          <p:nvPr/>
        </p:nvPicPr>
        <p:blipFill>
          <a:blip r:embed="rId4"/>
          <a:stretch>
            <a:fillRect/>
          </a:stretch>
        </p:blipFill>
        <p:spPr>
          <a:xfrm>
            <a:off x="512445" y="4587240"/>
            <a:ext cx="152400" cy="1524000"/>
          </a:xfrm>
          <a:prstGeom prst="rect">
            <a:avLst/>
          </a:prstGeom>
        </p:spPr>
      </p:pic>
      <p:pic>
        <p:nvPicPr>
          <p:cNvPr id="16" name="Image 4" descr="https://kimi-img.moonshot.cn/pub/slides/slides_tmpl/image/25-08-27-20:04:32-d2nf8k18bjvh7rlj0a60.png"/>
          <p:cNvPicPr>
            <a:picLocks noChangeAspect="1"/>
          </p:cNvPicPr>
          <p:nvPr/>
        </p:nvPicPr>
        <p:blipFill>
          <a:blip r:embed="rId5"/>
          <a:stretch>
            <a:fillRect/>
          </a:stretch>
        </p:blipFill>
        <p:spPr>
          <a:xfrm>
            <a:off x="1311275" y="3907257"/>
            <a:ext cx="1320800" cy="1371600"/>
          </a:xfrm>
          <a:prstGeom prst="rect">
            <a:avLst/>
          </a:prstGeom>
        </p:spPr>
      </p:pic>
      <p:pic>
        <p:nvPicPr>
          <p:cNvPr id="17" name="Image 5" descr="https://kimi-img.moonshot.cn/pub/slides/slides_tmpl/image/25-08-27-20:04:32-d2nf8k18bjvh7rlj0a6g.png"/>
          <p:cNvPicPr>
            <a:picLocks noChangeAspect="1"/>
          </p:cNvPicPr>
          <p:nvPr/>
        </p:nvPicPr>
        <p:blipFill>
          <a:blip r:embed="rId6"/>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p:spPr>
      </p:sp>
      <p:pic>
        <p:nvPicPr>
          <p:cNvPr id="19" name="Image 6" descr="https://kimi-img.moonshot.cn/pub/slides/slides_tmpl/image/25-08-27-20:04:32-d2nf8k18bjvh7rlj0a60.png"/>
          <p:cNvPicPr>
            <a:picLocks noChangeAspect="1"/>
          </p:cNvPicPr>
          <p:nvPr/>
        </p:nvPicPr>
        <p:blipFill>
          <a:blip r:embed="rId5"/>
          <a:stretch>
            <a:fillRect/>
          </a:stretch>
        </p:blipFill>
        <p:spPr>
          <a:xfrm>
            <a:off x="11187651" y="1515914"/>
            <a:ext cx="731154" cy="67603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E1FD"/>
        </a:solidFill>
        <a:effectLst/>
      </p:bgPr>
    </p:bg>
    <p:spTree>
      <p:nvGrpSpPr>
        <p:cNvPr id="1" name=""/>
        <p:cNvGrpSpPr/>
        <p:nvPr/>
      </p:nvGrpSpPr>
      <p:grpSpPr>
        <a:xfrm>
          <a:off x="0" y="0"/>
          <a:ext cx="0" cy="0"/>
          <a:chOff x="0" y="0"/>
          <a:chExt cx="0" cy="0"/>
        </a:xfrm>
      </p:grpSpPr>
      <p:sp>
        <p:nvSpPr>
          <p:cNvPr id="2" name="Shape 0"/>
          <p:cNvSpPr/>
          <p:nvPr/>
        </p:nvSpPr>
        <p:spPr>
          <a:xfrm>
            <a:off x="647179" y="506141"/>
            <a:ext cx="133350" cy="137160"/>
          </a:xfrm>
          <a:prstGeom prst="ellipse">
            <a:avLst/>
          </a:prstGeom>
          <a:solidFill>
            <a:srgbClr val="FFFFFF"/>
          </a:solidFill>
        </p:spPr>
      </p:sp>
      <p:sp>
        <p:nvSpPr>
          <p:cNvPr id="3" name="Shape 1"/>
          <p:cNvSpPr/>
          <p:nvPr/>
        </p:nvSpPr>
        <p:spPr>
          <a:xfrm>
            <a:off x="847204" y="506141"/>
            <a:ext cx="133350" cy="137160"/>
          </a:xfrm>
          <a:prstGeom prst="ellipse">
            <a:avLst/>
          </a:prstGeom>
          <a:solidFill>
            <a:srgbClr val="FFFFFF"/>
          </a:solidFill>
        </p:spPr>
      </p:sp>
      <p:sp>
        <p:nvSpPr>
          <p:cNvPr id="4" name="Shape 2"/>
          <p:cNvSpPr/>
          <p:nvPr/>
        </p:nvSpPr>
        <p:spPr>
          <a:xfrm>
            <a:off x="1047229" y="506141"/>
            <a:ext cx="133350" cy="137160"/>
          </a:xfrm>
          <a:prstGeom prst="ellipse">
            <a:avLst/>
          </a:prstGeom>
          <a:solidFill>
            <a:srgbClr val="FFFFFF"/>
          </a:solidFill>
        </p:spPr>
      </p:sp>
      <p:sp>
        <p:nvSpPr>
          <p:cNvPr id="5" name="Shape 3"/>
          <p:cNvSpPr/>
          <p:nvPr/>
        </p:nvSpPr>
        <p:spPr>
          <a:xfrm>
            <a:off x="1247254" y="506141"/>
            <a:ext cx="133350" cy="137160"/>
          </a:xfrm>
          <a:prstGeom prst="ellipse">
            <a:avLst/>
          </a:prstGeom>
          <a:solidFill>
            <a:srgbClr val="FFFFFF"/>
          </a:solidFill>
        </p:spPr>
      </p:sp>
      <p:sp>
        <p:nvSpPr>
          <p:cNvPr id="6" name="Shape 4"/>
          <p:cNvSpPr/>
          <p:nvPr/>
        </p:nvSpPr>
        <p:spPr>
          <a:xfrm>
            <a:off x="443817" y="1246665"/>
            <a:ext cx="133350" cy="137160"/>
          </a:xfrm>
          <a:prstGeom prst="ellipse">
            <a:avLst/>
          </a:prstGeom>
          <a:solidFill>
            <a:srgbClr val="FFFFFF"/>
          </a:solidFill>
        </p:spPr>
      </p:sp>
      <p:sp>
        <p:nvSpPr>
          <p:cNvPr id="7" name="Shape 5"/>
          <p:cNvSpPr/>
          <p:nvPr/>
        </p:nvSpPr>
        <p:spPr>
          <a:xfrm>
            <a:off x="443817" y="1046639"/>
            <a:ext cx="133350" cy="137160"/>
          </a:xfrm>
          <a:prstGeom prst="ellipse">
            <a:avLst/>
          </a:prstGeom>
          <a:solidFill>
            <a:srgbClr val="FFFFFF"/>
          </a:solidFill>
        </p:spPr>
      </p:sp>
      <p:sp>
        <p:nvSpPr>
          <p:cNvPr id="8" name="Shape 6"/>
          <p:cNvSpPr/>
          <p:nvPr/>
        </p:nvSpPr>
        <p:spPr>
          <a:xfrm>
            <a:off x="443817" y="846614"/>
            <a:ext cx="133350" cy="137160"/>
          </a:xfrm>
          <a:prstGeom prst="ellipse">
            <a:avLst/>
          </a:prstGeom>
          <a:solidFill>
            <a:srgbClr val="FFFFFF"/>
          </a:solidFill>
        </p:spPr>
      </p:sp>
      <p:sp>
        <p:nvSpPr>
          <p:cNvPr id="9" name="Shape 7"/>
          <p:cNvSpPr/>
          <p:nvPr/>
        </p:nvSpPr>
        <p:spPr>
          <a:xfrm>
            <a:off x="443817" y="646590"/>
            <a:ext cx="133350" cy="137160"/>
          </a:xfrm>
          <a:prstGeom prst="ellipse">
            <a:avLst/>
          </a:prstGeom>
          <a:solidFill>
            <a:srgbClr val="FFFFFF"/>
          </a:solidFill>
        </p:spPr>
      </p:sp>
      <p:sp>
        <p:nvSpPr>
          <p:cNvPr id="10" name="Text 8"/>
          <p:cNvSpPr/>
          <p:nvPr/>
        </p:nvSpPr>
        <p:spPr>
          <a:xfrm>
            <a:off x="693420" y="713105"/>
            <a:ext cx="4472940" cy="1998345"/>
          </a:xfrm>
          <a:prstGeom prst="rect">
            <a:avLst/>
          </a:prstGeom>
          <a:noFill/>
        </p:spPr>
        <p:txBody>
          <a:bodyPr wrap="square" lIns="91440" tIns="45720" rIns="91440" bIns="45720" rtlCol="0" anchor="t"/>
          <a:lstStyle/>
          <a:p>
            <a:pPr algn="just">
              <a:lnSpc>
                <a:spcPct val="100000"/>
              </a:lnSpc>
            </a:pPr>
            <a:r>
              <a:rPr lang="en-US" sz="2800" dirty="0">
                <a:solidFill>
                  <a:srgbClr val="606C9A"/>
                </a:solidFill>
                <a:latin typeface="MiSans" pitchFamily="34" charset="-122"/>
                <a:ea typeface="MiSans" pitchFamily="34" charset="-122"/>
                <a:cs typeface="MiSans" pitchFamily="34" charset="-120"/>
              </a:rPr>
              <a:t>功能交付与性能数据</a:t>
            </a:r>
            <a:endParaRPr lang="en-US" sz="1600" dirty="0"/>
          </a:p>
        </p:txBody>
      </p:sp>
      <p:sp>
        <p:nvSpPr>
          <p:cNvPr id="11" name="Shape 9"/>
          <p:cNvSpPr/>
          <p:nvPr/>
        </p:nvSpPr>
        <p:spPr>
          <a:xfrm>
            <a:off x="710205" y="2162989"/>
            <a:ext cx="228803" cy="212992"/>
          </a:xfrm>
          <a:prstGeom prst="ellipse">
            <a:avLst/>
          </a:prstGeom>
          <a:solidFill>
            <a:srgbClr val="000000">
              <a:alpha val="0"/>
            </a:srgbClr>
          </a:solidFill>
          <a:ln w="41275">
            <a:solidFill>
              <a:srgbClr val="FFFFFF"/>
            </a:solidFill>
            <a:prstDash val="solid"/>
          </a:ln>
        </p:spPr>
      </p:sp>
      <p:sp>
        <p:nvSpPr>
          <p:cNvPr id="12" name="Shape 10"/>
          <p:cNvSpPr/>
          <p:nvPr/>
        </p:nvSpPr>
        <p:spPr>
          <a:xfrm>
            <a:off x="786604" y="2203527"/>
            <a:ext cx="137562" cy="131914"/>
          </a:xfrm>
          <a:prstGeom prst="ellipse">
            <a:avLst/>
          </a:prstGeom>
          <a:solidFill>
            <a:srgbClr val="C1CEF6"/>
          </a:solidFill>
        </p:spPr>
      </p:sp>
      <p:sp>
        <p:nvSpPr>
          <p:cNvPr id="13" name="Shape 11"/>
          <p:cNvSpPr/>
          <p:nvPr/>
        </p:nvSpPr>
        <p:spPr>
          <a:xfrm>
            <a:off x="710205" y="4414604"/>
            <a:ext cx="228803" cy="212992"/>
          </a:xfrm>
          <a:prstGeom prst="ellipse">
            <a:avLst/>
          </a:prstGeom>
          <a:solidFill>
            <a:srgbClr val="000000">
              <a:alpha val="0"/>
            </a:srgbClr>
          </a:solidFill>
          <a:ln w="41275">
            <a:solidFill>
              <a:srgbClr val="FFFFFF"/>
            </a:solidFill>
            <a:prstDash val="solid"/>
          </a:ln>
        </p:spPr>
      </p:sp>
      <p:sp>
        <p:nvSpPr>
          <p:cNvPr id="14" name="Shape 12"/>
          <p:cNvSpPr/>
          <p:nvPr/>
        </p:nvSpPr>
        <p:spPr>
          <a:xfrm>
            <a:off x="786604" y="4455142"/>
            <a:ext cx="137562" cy="131914"/>
          </a:xfrm>
          <a:prstGeom prst="ellipse">
            <a:avLst/>
          </a:prstGeom>
          <a:solidFill>
            <a:srgbClr val="C1CEF6"/>
          </a:solidFill>
        </p:spPr>
      </p:sp>
      <p:pic>
        <p:nvPicPr>
          <p:cNvPr id="15" name="Image 0" descr="https://kimi-img.moonshot.cn/pub/slides/slides_tmpl/image/25-08-27-20:04:42-d2nf8mh8bjvh7rlj0al0.jpeg"/>
          <p:cNvPicPr>
            <a:picLocks noChangeAspect="1"/>
          </p:cNvPicPr>
          <p:nvPr/>
        </p:nvPicPr>
        <p:blipFill>
          <a:blip r:embed="rId1"/>
          <a:stretch>
            <a:fillRect/>
          </a:stretch>
        </p:blipFill>
        <p:spPr>
          <a:xfrm>
            <a:off x="5622277" y="0"/>
            <a:ext cx="6564268" cy="3429000"/>
          </a:xfrm>
          <a:prstGeom prst="rect">
            <a:avLst/>
          </a:prstGeom>
        </p:spPr>
      </p:pic>
      <p:pic>
        <p:nvPicPr>
          <p:cNvPr id="16" name="Image 1" descr="https://kimi-img.moonshot.cn/pub/slides/slides_tmpl/image/25-08-27-20:04:42-d2nf8mh8bjvh7rlj0alg.jpeg"/>
          <p:cNvPicPr>
            <a:picLocks noChangeAspect="1"/>
          </p:cNvPicPr>
          <p:nvPr/>
        </p:nvPicPr>
        <p:blipFill>
          <a:blip r:embed="rId2"/>
          <a:stretch>
            <a:fillRect/>
          </a:stretch>
        </p:blipFill>
        <p:spPr>
          <a:xfrm>
            <a:off x="5620849" y="3429001"/>
            <a:ext cx="6571151" cy="3429000"/>
          </a:xfrm>
          <a:prstGeom prst="rect">
            <a:avLst/>
          </a:prstGeom>
        </p:spPr>
      </p:pic>
      <p:sp>
        <p:nvSpPr>
          <p:cNvPr id="17" name="Shape 13"/>
          <p:cNvSpPr/>
          <p:nvPr/>
        </p:nvSpPr>
        <p:spPr>
          <a:xfrm>
            <a:off x="5580731" y="-1"/>
            <a:ext cx="1940488" cy="6858000"/>
          </a:xfrm>
          <a:prstGeom prst="rect">
            <a:avLst/>
          </a:prstGeom>
          <a:gradFill flip="none" rotWithShape="1">
            <a:gsLst>
              <a:gs pos="0">
                <a:srgbClr val="D8E1FD"/>
              </a:gs>
              <a:gs pos="1000">
                <a:srgbClr val="D9E2FE"/>
              </a:gs>
              <a:gs pos="18000">
                <a:srgbClr val="D8E1FD"/>
              </a:gs>
              <a:gs pos="29000">
                <a:srgbClr val="D9E2FE"/>
              </a:gs>
              <a:gs pos="99000">
                <a:srgbClr val="FFF2C6">
                  <a:alpha val="0"/>
                </a:srgbClr>
              </a:gs>
              <a:gs pos="100000">
                <a:srgbClr val="FFF2C6">
                  <a:alpha val="0"/>
                </a:srgbClr>
              </a:gs>
            </a:gsLst>
            <a:lin ang="0" scaled="1"/>
          </a:gradFill>
        </p:spPr>
      </p:sp>
      <p:sp>
        <p:nvSpPr>
          <p:cNvPr id="18" name="Text 14"/>
          <p:cNvSpPr/>
          <p:nvPr/>
        </p:nvSpPr>
        <p:spPr>
          <a:xfrm>
            <a:off x="1169035" y="2096135"/>
            <a:ext cx="4624705"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完整功能交付清单</a:t>
            </a:r>
            <a:endParaRPr lang="en-US" sz="1600" dirty="0"/>
          </a:p>
        </p:txBody>
      </p:sp>
      <p:sp>
        <p:nvSpPr>
          <p:cNvPr id="19" name="Text 15"/>
          <p:cNvSpPr/>
          <p:nvPr/>
        </p:nvSpPr>
        <p:spPr>
          <a:xfrm>
            <a:off x="1205865" y="2495550"/>
            <a:ext cx="4624705" cy="1962507"/>
          </a:xfrm>
          <a:prstGeom prst="rect">
            <a:avLst/>
          </a:prstGeom>
          <a:noFill/>
        </p:spPr>
        <p:txBody>
          <a:bodyPr wrap="square" lIns="91440" tIns="45720" rIns="91440" bIns="45720" rtlCol="0" anchor="t">
            <a:spAutoFit/>
          </a:bodyPr>
          <a:lstStyle/>
          <a:p>
            <a:pPr>
              <a:lnSpc>
                <a:spcPct val="100000"/>
              </a:lnSpc>
            </a:pPr>
            <a:r>
              <a:rPr lang="en-US" sz="1600" dirty="0">
                <a:solidFill>
                  <a:srgbClr val="606C9A"/>
                </a:solidFill>
                <a:latin typeface="MiSans" pitchFamily="34" charset="-122"/>
                <a:ea typeface="MiSans" pitchFamily="34" charset="-122"/>
                <a:cs typeface="MiSans" pitchFamily="34" charset="-120"/>
              </a:rPr>
              <a:t>完成从概念到内核虚拟机完整验证的异步串口栈：用户态Shell双向异步输入输出、设备节点支持标准事件轮询接口、非阻塞读取通过打开fcntl和ioctl三条入口完整传播、tc排空操作实现真异步、内核日志通道与用户态异步通道共存共享硬件互不冲突。Shell基本交互包括命令行输入、工作目录切换、目录列表等均工作正常。</a:t>
            </a:r>
            <a:endParaRPr lang="en-US" sz="1600" dirty="0"/>
          </a:p>
        </p:txBody>
      </p:sp>
      <p:sp>
        <p:nvSpPr>
          <p:cNvPr id="20" name="Text 16"/>
          <p:cNvSpPr/>
          <p:nvPr/>
        </p:nvSpPr>
        <p:spPr>
          <a:xfrm>
            <a:off x="1169035" y="4347845"/>
            <a:ext cx="4624705"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核心性能对比与通路直测</a:t>
            </a:r>
            <a:endParaRPr lang="en-US" sz="1600" dirty="0"/>
          </a:p>
        </p:txBody>
      </p:sp>
      <p:sp>
        <p:nvSpPr>
          <p:cNvPr id="21" name="Text 17"/>
          <p:cNvSpPr/>
          <p:nvPr/>
        </p:nvSpPr>
        <p:spPr>
          <a:xfrm>
            <a:off x="1205865" y="4747260"/>
            <a:ext cx="4624705" cy="1962507"/>
          </a:xfrm>
          <a:prstGeom prst="rect">
            <a:avLst/>
          </a:prstGeom>
          <a:noFill/>
        </p:spPr>
        <p:txBody>
          <a:bodyPr wrap="square" lIns="91440" tIns="45720" rIns="91440" bIns="45720" rtlCol="0" anchor="t">
            <a:spAutoFit/>
          </a:bodyPr>
          <a:lstStyle/>
          <a:p>
            <a:pPr>
              <a:lnSpc>
                <a:spcPct val="100000"/>
              </a:lnSpc>
            </a:pPr>
            <a:r>
              <a:rPr lang="en-US" sz="1600" dirty="0">
                <a:solidFill>
                  <a:srgbClr val="606C9A"/>
                </a:solidFill>
                <a:latin typeface="MiSans" pitchFamily="34" charset="-122"/>
                <a:ea typeface="MiSans" pitchFamily="34" charset="-122"/>
                <a:cs typeface="MiSans" pitchFamily="34" charset="-120"/>
              </a:rPr>
              <a:t>统一数据量10万字节端到端对比：CPU周期每字节从3835降至268提升14.3倍，延迟中位数从17.5微秒降至6.5微秒提升2.7倍。环形缓冲区直测每秒搬运近6亿字节，延迟中位数600纳秒。唤醒延迟从通用事件分发机制的约200纳秒降至静态原子唤醒的约50纳秒，提升约4倍，共7处唤醒点应用该优化。</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D8E1FD"/>
            </a:gs>
            <a:gs pos="22000">
              <a:srgbClr val="D8E1FD"/>
            </a:gs>
            <a:gs pos="100000">
              <a:srgbClr val="C7D5FC"/>
            </a:gs>
            <a:gs pos="100000">
              <a:srgbClr val="FFF2C6"/>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725214" y="427411"/>
            <a:ext cx="133350" cy="137160"/>
          </a:xfrm>
          <a:prstGeom prst="ellipse">
            <a:avLst/>
          </a:prstGeom>
          <a:solidFill>
            <a:srgbClr val="FFFFFF"/>
          </a:solidFill>
        </p:spPr>
      </p:sp>
      <p:sp>
        <p:nvSpPr>
          <p:cNvPr id="3" name="Shape 1"/>
          <p:cNvSpPr/>
          <p:nvPr/>
        </p:nvSpPr>
        <p:spPr>
          <a:xfrm>
            <a:off x="925239" y="427411"/>
            <a:ext cx="133350" cy="137160"/>
          </a:xfrm>
          <a:prstGeom prst="ellipse">
            <a:avLst/>
          </a:prstGeom>
          <a:solidFill>
            <a:srgbClr val="FFFFFF"/>
          </a:solidFill>
        </p:spPr>
      </p:sp>
      <p:sp>
        <p:nvSpPr>
          <p:cNvPr id="4" name="Shape 2"/>
          <p:cNvSpPr/>
          <p:nvPr/>
        </p:nvSpPr>
        <p:spPr>
          <a:xfrm>
            <a:off x="1125264" y="427411"/>
            <a:ext cx="133350" cy="137160"/>
          </a:xfrm>
          <a:prstGeom prst="ellipse">
            <a:avLst/>
          </a:prstGeom>
          <a:solidFill>
            <a:srgbClr val="FFFFFF"/>
          </a:solidFill>
        </p:spPr>
      </p:sp>
      <p:sp>
        <p:nvSpPr>
          <p:cNvPr id="5" name="Shape 3"/>
          <p:cNvSpPr/>
          <p:nvPr/>
        </p:nvSpPr>
        <p:spPr>
          <a:xfrm>
            <a:off x="1325289" y="427411"/>
            <a:ext cx="133350" cy="137160"/>
          </a:xfrm>
          <a:prstGeom prst="ellipse">
            <a:avLst/>
          </a:prstGeom>
          <a:solidFill>
            <a:srgbClr val="FFFFFF"/>
          </a:solidFill>
        </p:spPr>
      </p:sp>
      <p:sp>
        <p:nvSpPr>
          <p:cNvPr id="6" name="Shape 4"/>
          <p:cNvSpPr/>
          <p:nvPr/>
        </p:nvSpPr>
        <p:spPr>
          <a:xfrm>
            <a:off x="521851" y="1167935"/>
            <a:ext cx="133350" cy="137160"/>
          </a:xfrm>
          <a:prstGeom prst="ellipse">
            <a:avLst/>
          </a:prstGeom>
          <a:solidFill>
            <a:srgbClr val="FFFFFF"/>
          </a:solidFill>
        </p:spPr>
      </p:sp>
      <p:sp>
        <p:nvSpPr>
          <p:cNvPr id="7" name="Shape 5"/>
          <p:cNvSpPr/>
          <p:nvPr/>
        </p:nvSpPr>
        <p:spPr>
          <a:xfrm>
            <a:off x="521851" y="967909"/>
            <a:ext cx="133350" cy="137160"/>
          </a:xfrm>
          <a:prstGeom prst="ellipse">
            <a:avLst/>
          </a:prstGeom>
          <a:solidFill>
            <a:srgbClr val="FFFFFF"/>
          </a:solidFill>
        </p:spPr>
      </p:sp>
      <p:sp>
        <p:nvSpPr>
          <p:cNvPr id="8" name="Shape 6"/>
          <p:cNvSpPr/>
          <p:nvPr/>
        </p:nvSpPr>
        <p:spPr>
          <a:xfrm>
            <a:off x="521851" y="767884"/>
            <a:ext cx="133350" cy="137160"/>
          </a:xfrm>
          <a:prstGeom prst="ellipse">
            <a:avLst/>
          </a:prstGeom>
          <a:solidFill>
            <a:srgbClr val="FFFFFF"/>
          </a:solidFill>
        </p:spPr>
      </p:sp>
      <p:sp>
        <p:nvSpPr>
          <p:cNvPr id="9" name="Shape 7"/>
          <p:cNvSpPr/>
          <p:nvPr/>
        </p:nvSpPr>
        <p:spPr>
          <a:xfrm>
            <a:off x="521851" y="567860"/>
            <a:ext cx="133350" cy="137160"/>
          </a:xfrm>
          <a:prstGeom prst="ellipse">
            <a:avLst/>
          </a:prstGeom>
          <a:solidFill>
            <a:srgbClr val="FFFFFF"/>
          </a:solidFill>
        </p:spPr>
      </p:sp>
      <p:sp>
        <p:nvSpPr>
          <p:cNvPr id="10" name="Text 8"/>
          <p:cNvSpPr/>
          <p:nvPr/>
        </p:nvSpPr>
        <p:spPr>
          <a:xfrm>
            <a:off x="725170" y="608330"/>
            <a:ext cx="10675620" cy="1514475"/>
          </a:xfrm>
          <a:prstGeom prst="rect">
            <a:avLst/>
          </a:prstGeom>
          <a:noFill/>
        </p:spPr>
        <p:txBody>
          <a:bodyPr wrap="square" lIns="91440" tIns="45720" rIns="91440" bIns="45720" rtlCol="0" anchor="t"/>
          <a:lstStyle/>
          <a:p>
            <a:pPr algn="just">
              <a:lnSpc>
                <a:spcPct val="100000"/>
              </a:lnSpc>
            </a:pPr>
            <a:r>
              <a:rPr lang="en-US" sz="2800" dirty="0">
                <a:solidFill>
                  <a:srgbClr val="606C9A"/>
                </a:solidFill>
                <a:latin typeface="MiSans" pitchFamily="34" charset="-122"/>
                <a:ea typeface="MiSans" pitchFamily="34" charset="-122"/>
                <a:cs typeface="MiSans" pitchFamily="34" charset="-120"/>
              </a:rPr>
              <a:t>代码质量与工程规范</a:t>
            </a:r>
            <a:endParaRPr lang="en-US" sz="1600" dirty="0"/>
          </a:p>
        </p:txBody>
      </p:sp>
      <p:sp>
        <p:nvSpPr>
          <p:cNvPr id="11" name="Shape 9"/>
          <p:cNvSpPr/>
          <p:nvPr/>
        </p:nvSpPr>
        <p:spPr>
          <a:xfrm>
            <a:off x="659012" y="2259805"/>
            <a:ext cx="200024" cy="212992"/>
          </a:xfrm>
          <a:prstGeom prst="ellipse">
            <a:avLst/>
          </a:prstGeom>
          <a:solidFill>
            <a:srgbClr val="000000">
              <a:alpha val="0"/>
            </a:srgbClr>
          </a:solidFill>
          <a:ln w="41275">
            <a:solidFill>
              <a:srgbClr val="FFFFFF"/>
            </a:solidFill>
            <a:prstDash val="solid"/>
          </a:ln>
        </p:spPr>
      </p:sp>
      <p:sp>
        <p:nvSpPr>
          <p:cNvPr id="12" name="Shape 10"/>
          <p:cNvSpPr/>
          <p:nvPr/>
        </p:nvSpPr>
        <p:spPr>
          <a:xfrm>
            <a:off x="725802" y="2300343"/>
            <a:ext cx="120259" cy="131914"/>
          </a:xfrm>
          <a:prstGeom prst="ellipse">
            <a:avLst/>
          </a:prstGeom>
          <a:solidFill>
            <a:srgbClr val="C1CEF6"/>
          </a:solidFill>
        </p:spPr>
      </p:sp>
      <p:sp>
        <p:nvSpPr>
          <p:cNvPr id="13" name="Shape 11"/>
          <p:cNvSpPr/>
          <p:nvPr/>
        </p:nvSpPr>
        <p:spPr>
          <a:xfrm>
            <a:off x="3633236" y="4241837"/>
            <a:ext cx="200024" cy="212992"/>
          </a:xfrm>
          <a:prstGeom prst="ellipse">
            <a:avLst/>
          </a:prstGeom>
          <a:solidFill>
            <a:srgbClr val="000000">
              <a:alpha val="0"/>
            </a:srgbClr>
          </a:solidFill>
          <a:ln w="41275">
            <a:solidFill>
              <a:srgbClr val="FFFFFF"/>
            </a:solidFill>
            <a:prstDash val="solid"/>
          </a:ln>
        </p:spPr>
      </p:sp>
      <p:sp>
        <p:nvSpPr>
          <p:cNvPr id="14" name="Shape 12"/>
          <p:cNvSpPr/>
          <p:nvPr/>
        </p:nvSpPr>
        <p:spPr>
          <a:xfrm>
            <a:off x="3700026" y="4282375"/>
            <a:ext cx="120259" cy="131914"/>
          </a:xfrm>
          <a:prstGeom prst="ellipse">
            <a:avLst/>
          </a:prstGeom>
          <a:solidFill>
            <a:srgbClr val="C1CEF6"/>
          </a:solidFill>
        </p:spPr>
      </p:sp>
      <p:sp>
        <p:nvSpPr>
          <p:cNvPr id="15" name="Shape 13"/>
          <p:cNvSpPr/>
          <p:nvPr/>
        </p:nvSpPr>
        <p:spPr>
          <a:xfrm>
            <a:off x="7846439" y="4241837"/>
            <a:ext cx="200024" cy="212992"/>
          </a:xfrm>
          <a:prstGeom prst="ellipse">
            <a:avLst/>
          </a:prstGeom>
          <a:solidFill>
            <a:srgbClr val="000000">
              <a:alpha val="0"/>
            </a:srgbClr>
          </a:solidFill>
          <a:ln w="41275">
            <a:solidFill>
              <a:srgbClr val="FFFFFF"/>
            </a:solidFill>
            <a:prstDash val="solid"/>
          </a:ln>
        </p:spPr>
      </p:sp>
      <p:sp>
        <p:nvSpPr>
          <p:cNvPr id="16" name="Shape 14"/>
          <p:cNvSpPr/>
          <p:nvPr/>
        </p:nvSpPr>
        <p:spPr>
          <a:xfrm>
            <a:off x="7913229" y="4282375"/>
            <a:ext cx="120259" cy="131914"/>
          </a:xfrm>
          <a:prstGeom prst="ellipse">
            <a:avLst/>
          </a:prstGeom>
          <a:solidFill>
            <a:srgbClr val="C1CEF6"/>
          </a:solidFill>
        </p:spPr>
      </p:sp>
      <p:pic>
        <p:nvPicPr>
          <p:cNvPr id="17" name="Image 0" descr="https://kimi-img.moonshot.cn/pub/slides/slides_tmpl/image/25-08-27-20:04:45-d2nf8n98bjvh7rlj0ar0.jpeg"/>
          <p:cNvPicPr>
            <a:picLocks noChangeAspect="1"/>
          </p:cNvPicPr>
          <p:nvPr/>
        </p:nvPicPr>
        <p:blipFill>
          <a:blip r:embed="rId1"/>
          <a:stretch>
            <a:fillRect/>
          </a:stretch>
        </p:blipFill>
        <p:spPr>
          <a:xfrm>
            <a:off x="3644570" y="1811078"/>
            <a:ext cx="3662704" cy="2155017"/>
          </a:xfrm>
          <a:prstGeom prst="rect">
            <a:avLst/>
          </a:prstGeom>
        </p:spPr>
      </p:pic>
      <p:pic>
        <p:nvPicPr>
          <p:cNvPr id="18" name="Image 1" descr="https://kimi-img.moonshot.cn/pub/slides/slides_tmpl/image/25-08-27-20:04:44-d2nf8n18bjvh7rlj0aq0.jpeg"/>
          <p:cNvPicPr>
            <a:picLocks noChangeAspect="1"/>
          </p:cNvPicPr>
          <p:nvPr/>
        </p:nvPicPr>
        <p:blipFill>
          <a:blip r:embed="rId2"/>
          <a:stretch>
            <a:fillRect/>
          </a:stretch>
        </p:blipFill>
        <p:spPr>
          <a:xfrm>
            <a:off x="7738194" y="1811078"/>
            <a:ext cx="3662704" cy="2125440"/>
          </a:xfrm>
          <a:prstGeom prst="rect">
            <a:avLst/>
          </a:prstGeom>
        </p:spPr>
      </p:pic>
      <p:sp>
        <p:nvSpPr>
          <p:cNvPr id="19" name="Text 15"/>
          <p:cNvSpPr/>
          <p:nvPr/>
        </p:nvSpPr>
        <p:spPr>
          <a:xfrm>
            <a:off x="923689" y="2075142"/>
            <a:ext cx="2044184" cy="681990"/>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代码规模与模块分布</a:t>
            </a:r>
            <a:endParaRPr lang="en-US" sz="1600" dirty="0"/>
          </a:p>
        </p:txBody>
      </p:sp>
      <p:sp>
        <p:nvSpPr>
          <p:cNvPr id="20" name="Text 16"/>
          <p:cNvSpPr/>
          <p:nvPr/>
        </p:nvSpPr>
        <p:spPr>
          <a:xfrm>
            <a:off x="984885" y="2860675"/>
            <a:ext cx="1983105" cy="2942987"/>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新增代码约500行全部位于内核自身模块，项目整体净增约450行，涉及14个内核侧文件和1个底层驱动库文件。所有实现严格遵循不修改上游框架的约束，仅引入社区主流轻量级原子唤醒原语，未引入完整异步入库，保持与现有架构的最小侵入性。</a:t>
            </a:r>
            <a:endParaRPr lang="en-US" sz="1600" dirty="0"/>
          </a:p>
        </p:txBody>
      </p:sp>
      <p:sp>
        <p:nvSpPr>
          <p:cNvPr id="21" name="Text 17"/>
          <p:cNvSpPr/>
          <p:nvPr/>
        </p:nvSpPr>
        <p:spPr>
          <a:xfrm>
            <a:off x="3897912" y="4195673"/>
            <a:ext cx="3411363"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静态检查与死代码清理</a:t>
            </a:r>
            <a:endParaRPr lang="en-US" sz="1600" dirty="0"/>
          </a:p>
        </p:txBody>
      </p:sp>
      <p:sp>
        <p:nvSpPr>
          <p:cNvPr id="22" name="Text 18"/>
          <p:cNvSpPr/>
          <p:nvPr/>
        </p:nvSpPr>
        <p:spPr>
          <a:xfrm>
            <a:off x="3588573" y="4713984"/>
            <a:ext cx="3720701" cy="1636673"/>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实现静态检查零错误零警告：编译器检查、代码风格检查、编译警告均清零。死代码清理移除8处确认无用方法共76行，保留5处预留接口。多轮迭代全部通过完整的功能与性能回归测试，确保每次优化和修复均未引入新的功能退化或性能回退。</a:t>
            </a:r>
            <a:endParaRPr lang="en-US" sz="1600" dirty="0"/>
          </a:p>
        </p:txBody>
      </p:sp>
      <p:sp>
        <p:nvSpPr>
          <p:cNvPr id="23" name="Text 19"/>
          <p:cNvSpPr/>
          <p:nvPr/>
        </p:nvSpPr>
        <p:spPr>
          <a:xfrm>
            <a:off x="8111115" y="4195673"/>
            <a:ext cx="3411363"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端到端性能预测与可信性说明</a:t>
            </a:r>
            <a:endParaRPr lang="en-US" sz="1600" dirty="0"/>
          </a:p>
        </p:txBody>
      </p:sp>
      <p:sp>
        <p:nvSpPr>
          <p:cNvPr id="24" name="Text 20"/>
          <p:cNvSpPr/>
          <p:nvPr/>
        </p:nvSpPr>
        <p:spPr>
          <a:xfrm>
            <a:off x="7738194" y="4713984"/>
            <a:ext cx="3720700" cy="2420501"/>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按4096字节数据量在真实硬件上估算：吞吐量效率可达理论线速的97.7%，软件开销占比不足2.3%；单字节平均延迟中软件开销约占三分之一。需要说明的是，QEMU模拟器的NS16550设备模型不仿真真实串口线延迟，真实硬件吞吐量受115200波特率每秒11.5KB上限制约，但CPU周期占用、单字节延迟、唤醒延迟在QEMU上真实可测且真板上可信可推。</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38-d2nf8lh8bjvh7rlj0aeg.png"/>
          <p:cNvPicPr>
            <a:picLocks noChangeAspect="1"/>
          </p:cNvPicPr>
          <p:nvPr/>
        </p:nvPicPr>
        <p:blipFill>
          <a:blip r:embed="rId1"/>
          <a:stretch>
            <a:fillRect/>
          </a:stretch>
        </p:blipFill>
        <p:spPr>
          <a:xfrm>
            <a:off x="4928399" y="517692"/>
            <a:ext cx="7251700" cy="6340308"/>
          </a:xfrm>
          <a:prstGeom prst="rect">
            <a:avLst/>
          </a:prstGeom>
        </p:spPr>
      </p:pic>
      <p:sp>
        <p:nvSpPr>
          <p:cNvPr id="3" name="Text 0"/>
          <p:cNvSpPr/>
          <p:nvPr/>
        </p:nvSpPr>
        <p:spPr>
          <a:xfrm>
            <a:off x="7048502" y="2308860"/>
            <a:ext cx="4599086" cy="3952042"/>
          </a:xfrm>
          <a:prstGeom prst="rect">
            <a:avLst/>
          </a:prstGeom>
          <a:noFill/>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122"/>
                <a:ea typeface="MiSans" pitchFamily="34" charset="-122"/>
                <a:cs typeface="MiSans" pitchFamily="34" charset="-120"/>
              </a:rPr>
              <a:t>04</a:t>
            </a:r>
            <a:endParaRPr lang="en-US" sz="1600" dirty="0"/>
          </a:p>
        </p:txBody>
      </p:sp>
      <p:sp>
        <p:nvSpPr>
          <p:cNvPr id="4" name="Text 1"/>
          <p:cNvSpPr/>
          <p:nvPr/>
        </p:nvSpPr>
        <p:spPr>
          <a:xfrm>
            <a:off x="797560" y="1932305"/>
            <a:ext cx="10755630" cy="714931"/>
          </a:xfrm>
          <a:prstGeom prst="rect">
            <a:avLst/>
          </a:prstGeom>
          <a:noFill/>
        </p:spPr>
        <p:txBody>
          <a:bodyPr wrap="square" lIns="91440" tIns="45720" rIns="91440" bIns="45720" rtlCol="0" anchor="ctr">
            <a:spAutoFit/>
          </a:bodyPr>
          <a:lstStyle/>
          <a:p>
            <a:pPr>
              <a:lnSpc>
                <a:spcPct val="100000"/>
              </a:lnSpc>
            </a:pPr>
            <a:r>
              <a:rPr lang="en-US" sz="4000" dirty="0">
                <a:solidFill>
                  <a:srgbClr val="6D7AAF"/>
                </a:solidFill>
                <a:latin typeface="MiSans" pitchFamily="34" charset="-122"/>
                <a:ea typeface="MiSans" pitchFamily="34" charset="-122"/>
                <a:cs typeface="MiSans" pitchFamily="34" charset="-120"/>
              </a:rPr>
              <a:t>经验沉淀与复盘</a:t>
            </a:r>
            <a:endParaRPr lang="en-US" sz="1600" dirty="0"/>
          </a:p>
        </p:txBody>
      </p:sp>
      <p:sp>
        <p:nvSpPr>
          <p:cNvPr id="5" name="Shape 2"/>
          <p:cNvSpPr/>
          <p:nvPr/>
        </p:nvSpPr>
        <p:spPr>
          <a:xfrm>
            <a:off x="731049" y="856006"/>
            <a:ext cx="133350" cy="137160"/>
          </a:xfrm>
          <a:prstGeom prst="ellipse">
            <a:avLst/>
          </a:prstGeom>
          <a:solidFill>
            <a:srgbClr val="FFFFFF"/>
          </a:solidFill>
        </p:spPr>
      </p:sp>
      <p:sp>
        <p:nvSpPr>
          <p:cNvPr id="6" name="Shape 3"/>
          <p:cNvSpPr/>
          <p:nvPr/>
        </p:nvSpPr>
        <p:spPr>
          <a:xfrm>
            <a:off x="931074" y="856006"/>
            <a:ext cx="133350" cy="137160"/>
          </a:xfrm>
          <a:prstGeom prst="ellipse">
            <a:avLst/>
          </a:prstGeom>
          <a:solidFill>
            <a:srgbClr val="FFFFFF"/>
          </a:solidFill>
        </p:spPr>
      </p:sp>
      <p:sp>
        <p:nvSpPr>
          <p:cNvPr id="7" name="Shape 4"/>
          <p:cNvSpPr/>
          <p:nvPr/>
        </p:nvSpPr>
        <p:spPr>
          <a:xfrm>
            <a:off x="1131099" y="856006"/>
            <a:ext cx="133350" cy="137160"/>
          </a:xfrm>
          <a:prstGeom prst="ellipse">
            <a:avLst/>
          </a:prstGeom>
          <a:solidFill>
            <a:srgbClr val="FFFFFF"/>
          </a:solidFill>
        </p:spPr>
      </p:sp>
      <p:sp>
        <p:nvSpPr>
          <p:cNvPr id="8" name="Shape 5"/>
          <p:cNvSpPr/>
          <p:nvPr/>
        </p:nvSpPr>
        <p:spPr>
          <a:xfrm>
            <a:off x="1331124" y="856006"/>
            <a:ext cx="133350" cy="137160"/>
          </a:xfrm>
          <a:prstGeom prst="ellipse">
            <a:avLst/>
          </a:prstGeom>
          <a:solidFill>
            <a:srgbClr val="FFFFFF"/>
          </a:solidFill>
        </p:spPr>
      </p:sp>
      <p:sp>
        <p:nvSpPr>
          <p:cNvPr id="9" name="Shape 6"/>
          <p:cNvSpPr/>
          <p:nvPr/>
        </p:nvSpPr>
        <p:spPr>
          <a:xfrm>
            <a:off x="527687" y="1596530"/>
            <a:ext cx="133350" cy="137160"/>
          </a:xfrm>
          <a:prstGeom prst="ellipse">
            <a:avLst/>
          </a:prstGeom>
          <a:solidFill>
            <a:srgbClr val="FFFFFF"/>
          </a:solidFill>
        </p:spPr>
      </p:sp>
      <p:sp>
        <p:nvSpPr>
          <p:cNvPr id="10" name="Shape 7"/>
          <p:cNvSpPr/>
          <p:nvPr/>
        </p:nvSpPr>
        <p:spPr>
          <a:xfrm>
            <a:off x="527687" y="1396504"/>
            <a:ext cx="133350" cy="137160"/>
          </a:xfrm>
          <a:prstGeom prst="ellipse">
            <a:avLst/>
          </a:prstGeom>
          <a:solidFill>
            <a:srgbClr val="FFFFFF"/>
          </a:solidFill>
        </p:spPr>
      </p:sp>
      <p:sp>
        <p:nvSpPr>
          <p:cNvPr id="11" name="Shape 8"/>
          <p:cNvSpPr/>
          <p:nvPr/>
        </p:nvSpPr>
        <p:spPr>
          <a:xfrm>
            <a:off x="527687" y="1196479"/>
            <a:ext cx="133350" cy="137160"/>
          </a:xfrm>
          <a:prstGeom prst="ellipse">
            <a:avLst/>
          </a:prstGeom>
          <a:solidFill>
            <a:srgbClr val="FFFFFF"/>
          </a:solidFill>
        </p:spPr>
      </p:sp>
      <p:sp>
        <p:nvSpPr>
          <p:cNvPr id="12" name="Shape 9"/>
          <p:cNvSpPr/>
          <p:nvPr/>
        </p:nvSpPr>
        <p:spPr>
          <a:xfrm>
            <a:off x="527687" y="996455"/>
            <a:ext cx="133350" cy="137160"/>
          </a:xfrm>
          <a:prstGeom prst="ellipse">
            <a:avLst/>
          </a:prstGeom>
          <a:solidFill>
            <a:srgbClr val="FFFFFF"/>
          </a:solidFill>
        </p:spPr>
      </p:sp>
      <p:pic>
        <p:nvPicPr>
          <p:cNvPr id="13" name="Image 1" descr="https://kimi-img.moonshot.cn/pub/slides/slides_tmpl/image/25-08-27-20:04:34-d2nf8kh8bjvh7rlj0a80.png"/>
          <p:cNvPicPr>
            <a:picLocks noChangeAspect="1"/>
          </p:cNvPicPr>
          <p:nvPr/>
        </p:nvPicPr>
        <p:blipFill>
          <a:blip r:embed="rId2">
            <a:alphaModFix amt="59000"/>
          </a:blip>
          <a:stretch>
            <a:fillRect/>
          </a:stretch>
        </p:blipFill>
        <p:spPr>
          <a:xfrm>
            <a:off x="5131435" y="330200"/>
            <a:ext cx="7048500" cy="6197600"/>
          </a:xfrm>
          <a:prstGeom prst="rect">
            <a:avLst/>
          </a:prstGeom>
        </p:spPr>
      </p:pic>
      <p:pic>
        <p:nvPicPr>
          <p:cNvPr id="14" name="Image 2" descr="https://kimi-img.moonshot.cn/pub/slides/slides_tmpl/image/25-08-27-20:04:33-d2nf8k98bjvh7rlj0a7g.png"/>
          <p:cNvPicPr>
            <a:picLocks noChangeAspect="1"/>
          </p:cNvPicPr>
          <p:nvPr/>
        </p:nvPicPr>
        <p:blipFill>
          <a:blip r:embed="rId3"/>
          <a:stretch>
            <a:fillRect/>
          </a:stretch>
        </p:blipFill>
        <p:spPr>
          <a:xfrm>
            <a:off x="0" y="3797300"/>
            <a:ext cx="5143500" cy="3060700"/>
          </a:xfrm>
          <a:prstGeom prst="rect">
            <a:avLst/>
          </a:prstGeom>
        </p:spPr>
      </p:pic>
      <p:pic>
        <p:nvPicPr>
          <p:cNvPr id="15" name="Image 3" descr="https://kimi-img.moonshot.cn/pub/slides/slides_tmpl/image/25-08-27-20:04:32-d2nf8k18bjvh7rlj0a5g.png"/>
          <p:cNvPicPr>
            <a:picLocks noChangeAspect="1"/>
          </p:cNvPicPr>
          <p:nvPr/>
        </p:nvPicPr>
        <p:blipFill>
          <a:blip r:embed="rId4"/>
          <a:stretch>
            <a:fillRect/>
          </a:stretch>
        </p:blipFill>
        <p:spPr>
          <a:xfrm>
            <a:off x="512445" y="4587240"/>
            <a:ext cx="152400" cy="1524000"/>
          </a:xfrm>
          <a:prstGeom prst="rect">
            <a:avLst/>
          </a:prstGeom>
        </p:spPr>
      </p:pic>
      <p:pic>
        <p:nvPicPr>
          <p:cNvPr id="16" name="Image 4" descr="https://kimi-img.moonshot.cn/pub/slides/slides_tmpl/image/25-08-27-20:04:32-d2nf8k18bjvh7rlj0a60.png"/>
          <p:cNvPicPr>
            <a:picLocks noChangeAspect="1"/>
          </p:cNvPicPr>
          <p:nvPr/>
        </p:nvPicPr>
        <p:blipFill>
          <a:blip r:embed="rId5"/>
          <a:stretch>
            <a:fillRect/>
          </a:stretch>
        </p:blipFill>
        <p:spPr>
          <a:xfrm>
            <a:off x="1311275" y="3907257"/>
            <a:ext cx="1320800" cy="1371600"/>
          </a:xfrm>
          <a:prstGeom prst="rect">
            <a:avLst/>
          </a:prstGeom>
        </p:spPr>
      </p:pic>
      <p:pic>
        <p:nvPicPr>
          <p:cNvPr id="17" name="Image 5" descr="https://kimi-img.moonshot.cn/pub/slides/slides_tmpl/image/25-08-27-20:04:32-d2nf8k18bjvh7rlj0a6g.png"/>
          <p:cNvPicPr>
            <a:picLocks noChangeAspect="1"/>
          </p:cNvPicPr>
          <p:nvPr/>
        </p:nvPicPr>
        <p:blipFill>
          <a:blip r:embed="rId6"/>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p:spPr>
      </p:sp>
      <p:pic>
        <p:nvPicPr>
          <p:cNvPr id="19" name="Image 6" descr="https://kimi-img.moonshot.cn/pub/slides/slides_tmpl/image/25-08-27-20:04:32-d2nf8k18bjvh7rlj0a60.png"/>
          <p:cNvPicPr>
            <a:picLocks noChangeAspect="1"/>
          </p:cNvPicPr>
          <p:nvPr/>
        </p:nvPicPr>
        <p:blipFill>
          <a:blip r:embed="rId5"/>
          <a:stretch>
            <a:fillRect/>
          </a:stretch>
        </p:blipFill>
        <p:spPr>
          <a:xfrm>
            <a:off x="11187651" y="1515914"/>
            <a:ext cx="731154" cy="676035"/>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D9E2FE"/>
            </a:gs>
            <a:gs pos="11000">
              <a:srgbClr val="D9E2FE"/>
            </a:gs>
            <a:gs pos="36000">
              <a:srgbClr val="D9E2FE"/>
            </a:gs>
            <a:gs pos="72000">
              <a:srgbClr val="FFF2C6"/>
            </a:gs>
            <a:gs pos="99000">
              <a:srgbClr val="C7D5FC"/>
            </a:gs>
            <a:gs pos="100000">
              <a:srgbClr val="C7D5FC"/>
            </a:gs>
          </a:gsLst>
          <a:path path="circle">
            <a:fillToRect r="100000" b="100000"/>
          </a:path>
        </a:gradFill>
        <a:effectLst/>
      </p:bgPr>
    </p:bg>
    <p:spTree>
      <p:nvGrpSpPr>
        <p:cNvPr id="1" name=""/>
        <p:cNvGrpSpPr/>
        <p:nvPr/>
      </p:nvGrpSpPr>
      <p:grpSpPr>
        <a:xfrm>
          <a:off x="0" y="0"/>
          <a:ext cx="0" cy="0"/>
          <a:chOff x="0" y="0"/>
          <a:chExt cx="0" cy="0"/>
        </a:xfrm>
      </p:grpSpPr>
      <p:sp>
        <p:nvSpPr>
          <p:cNvPr id="2" name="Shape 0"/>
          <p:cNvSpPr/>
          <p:nvPr/>
        </p:nvSpPr>
        <p:spPr>
          <a:xfrm>
            <a:off x="4505132" y="5747380"/>
            <a:ext cx="7212733" cy="677108"/>
          </a:xfrm>
          <a:prstGeom prst="rect">
            <a:avLst/>
          </a:prstGeom>
          <a:solidFill>
            <a:srgbClr val="D8E1FD"/>
          </a:solidFill>
        </p:spPr>
      </p:sp>
      <p:sp>
        <p:nvSpPr>
          <p:cNvPr id="3" name="Shape 1"/>
          <p:cNvSpPr/>
          <p:nvPr/>
        </p:nvSpPr>
        <p:spPr>
          <a:xfrm>
            <a:off x="331925" y="914792"/>
            <a:ext cx="8752114" cy="2768066"/>
          </a:xfrm>
          <a:prstGeom prst="roundRect">
            <a:avLst>
              <a:gd name="adj" fmla="val 16667"/>
            </a:avLst>
          </a:prstGeom>
          <a:solidFill>
            <a:srgbClr val="F9F1DC"/>
          </a:solidFill>
          <a:effectLst>
            <a:outerShdw blurRad="647378" dist="50800" dir="2700000" algn="bl" rotWithShape="0">
              <a:srgbClr val="6D7ECC">
                <a:alpha val="45882"/>
              </a:srgbClr>
            </a:outerShdw>
          </a:effectLst>
        </p:spPr>
      </p:sp>
      <p:sp>
        <p:nvSpPr>
          <p:cNvPr id="4" name="Shape 2"/>
          <p:cNvSpPr/>
          <p:nvPr/>
        </p:nvSpPr>
        <p:spPr>
          <a:xfrm>
            <a:off x="591669" y="1156612"/>
            <a:ext cx="228803" cy="212992"/>
          </a:xfrm>
          <a:prstGeom prst="ellipse">
            <a:avLst/>
          </a:prstGeom>
          <a:solidFill>
            <a:srgbClr val="000000">
              <a:alpha val="0"/>
            </a:srgbClr>
          </a:solidFill>
          <a:ln w="41275">
            <a:solidFill>
              <a:srgbClr val="FFFFFF"/>
            </a:solidFill>
            <a:prstDash val="solid"/>
          </a:ln>
        </p:spPr>
      </p:sp>
      <p:sp>
        <p:nvSpPr>
          <p:cNvPr id="5" name="Shape 3"/>
          <p:cNvSpPr/>
          <p:nvPr/>
        </p:nvSpPr>
        <p:spPr>
          <a:xfrm>
            <a:off x="668068" y="1197150"/>
            <a:ext cx="137562" cy="131914"/>
          </a:xfrm>
          <a:prstGeom prst="ellipse">
            <a:avLst/>
          </a:prstGeom>
          <a:solidFill>
            <a:srgbClr val="C1CEF6"/>
          </a:solidFill>
        </p:spPr>
      </p:sp>
      <p:sp>
        <p:nvSpPr>
          <p:cNvPr id="6" name="Shape 4"/>
          <p:cNvSpPr/>
          <p:nvPr/>
        </p:nvSpPr>
        <p:spPr>
          <a:xfrm>
            <a:off x="4773750" y="1162419"/>
            <a:ext cx="228803" cy="212992"/>
          </a:xfrm>
          <a:prstGeom prst="ellipse">
            <a:avLst/>
          </a:prstGeom>
          <a:solidFill>
            <a:srgbClr val="000000">
              <a:alpha val="0"/>
            </a:srgbClr>
          </a:solidFill>
          <a:ln w="41275">
            <a:solidFill>
              <a:srgbClr val="FFFFFF"/>
            </a:solidFill>
            <a:prstDash val="solid"/>
          </a:ln>
        </p:spPr>
      </p:sp>
      <p:sp>
        <p:nvSpPr>
          <p:cNvPr id="7" name="Shape 5"/>
          <p:cNvSpPr/>
          <p:nvPr/>
        </p:nvSpPr>
        <p:spPr>
          <a:xfrm>
            <a:off x="4850149" y="1202957"/>
            <a:ext cx="137562" cy="131914"/>
          </a:xfrm>
          <a:prstGeom prst="ellipse">
            <a:avLst/>
          </a:prstGeom>
          <a:solidFill>
            <a:srgbClr val="C1CEF6"/>
          </a:solidFill>
        </p:spPr>
      </p:sp>
      <p:sp>
        <p:nvSpPr>
          <p:cNvPr id="8" name="Shape 6"/>
          <p:cNvSpPr/>
          <p:nvPr/>
        </p:nvSpPr>
        <p:spPr>
          <a:xfrm>
            <a:off x="886275" y="4240755"/>
            <a:ext cx="133350" cy="137160"/>
          </a:xfrm>
          <a:prstGeom prst="ellipse">
            <a:avLst/>
          </a:prstGeom>
          <a:solidFill>
            <a:srgbClr val="FFFFFF"/>
          </a:solidFill>
        </p:spPr>
      </p:sp>
      <p:sp>
        <p:nvSpPr>
          <p:cNvPr id="9" name="Shape 7"/>
          <p:cNvSpPr/>
          <p:nvPr/>
        </p:nvSpPr>
        <p:spPr>
          <a:xfrm>
            <a:off x="1086300" y="4240755"/>
            <a:ext cx="133350" cy="137160"/>
          </a:xfrm>
          <a:prstGeom prst="ellipse">
            <a:avLst/>
          </a:prstGeom>
          <a:solidFill>
            <a:srgbClr val="FFFFFF"/>
          </a:solidFill>
        </p:spPr>
      </p:sp>
      <p:sp>
        <p:nvSpPr>
          <p:cNvPr id="10" name="Shape 8"/>
          <p:cNvSpPr/>
          <p:nvPr/>
        </p:nvSpPr>
        <p:spPr>
          <a:xfrm>
            <a:off x="1286325" y="4240755"/>
            <a:ext cx="133350" cy="137160"/>
          </a:xfrm>
          <a:prstGeom prst="ellipse">
            <a:avLst/>
          </a:prstGeom>
          <a:solidFill>
            <a:srgbClr val="FFFFFF"/>
          </a:solidFill>
        </p:spPr>
      </p:sp>
      <p:sp>
        <p:nvSpPr>
          <p:cNvPr id="11" name="Shape 9"/>
          <p:cNvSpPr/>
          <p:nvPr/>
        </p:nvSpPr>
        <p:spPr>
          <a:xfrm>
            <a:off x="1486350" y="4240755"/>
            <a:ext cx="133350" cy="137160"/>
          </a:xfrm>
          <a:prstGeom prst="ellipse">
            <a:avLst/>
          </a:prstGeom>
          <a:solidFill>
            <a:srgbClr val="FFFFFF"/>
          </a:solidFill>
        </p:spPr>
      </p:sp>
      <p:sp>
        <p:nvSpPr>
          <p:cNvPr id="12" name="Shape 10"/>
          <p:cNvSpPr/>
          <p:nvPr/>
        </p:nvSpPr>
        <p:spPr>
          <a:xfrm>
            <a:off x="682913" y="4981279"/>
            <a:ext cx="133350" cy="137160"/>
          </a:xfrm>
          <a:prstGeom prst="ellipse">
            <a:avLst/>
          </a:prstGeom>
          <a:solidFill>
            <a:srgbClr val="FFFFFF"/>
          </a:solidFill>
        </p:spPr>
      </p:sp>
      <p:sp>
        <p:nvSpPr>
          <p:cNvPr id="13" name="Shape 11"/>
          <p:cNvSpPr/>
          <p:nvPr/>
        </p:nvSpPr>
        <p:spPr>
          <a:xfrm>
            <a:off x="682913" y="4781254"/>
            <a:ext cx="133350" cy="137160"/>
          </a:xfrm>
          <a:prstGeom prst="ellipse">
            <a:avLst/>
          </a:prstGeom>
          <a:solidFill>
            <a:srgbClr val="FFFFFF"/>
          </a:solidFill>
        </p:spPr>
      </p:sp>
      <p:sp>
        <p:nvSpPr>
          <p:cNvPr id="14" name="Shape 12"/>
          <p:cNvSpPr/>
          <p:nvPr/>
        </p:nvSpPr>
        <p:spPr>
          <a:xfrm>
            <a:off x="682913" y="4581228"/>
            <a:ext cx="133350" cy="137160"/>
          </a:xfrm>
          <a:prstGeom prst="ellipse">
            <a:avLst/>
          </a:prstGeom>
          <a:solidFill>
            <a:srgbClr val="FFFFFF"/>
          </a:solidFill>
        </p:spPr>
      </p:sp>
      <p:sp>
        <p:nvSpPr>
          <p:cNvPr id="15" name="Shape 13"/>
          <p:cNvSpPr/>
          <p:nvPr/>
        </p:nvSpPr>
        <p:spPr>
          <a:xfrm>
            <a:off x="682913" y="4381204"/>
            <a:ext cx="133350" cy="137160"/>
          </a:xfrm>
          <a:prstGeom prst="ellipse">
            <a:avLst/>
          </a:prstGeom>
          <a:solidFill>
            <a:srgbClr val="FFFFFF"/>
          </a:solidFill>
        </p:spPr>
      </p:sp>
      <p:sp>
        <p:nvSpPr>
          <p:cNvPr id="16" name="Text 14"/>
          <p:cNvSpPr/>
          <p:nvPr/>
        </p:nvSpPr>
        <p:spPr>
          <a:xfrm>
            <a:off x="934720" y="4448175"/>
            <a:ext cx="6253480" cy="1223645"/>
          </a:xfrm>
          <a:prstGeom prst="rect">
            <a:avLst/>
          </a:prstGeom>
          <a:noFill/>
        </p:spPr>
        <p:txBody>
          <a:bodyPr wrap="square" lIns="91440" tIns="45720" rIns="91440" bIns="45720" rtlCol="0" anchor="ctr"/>
          <a:lstStyle/>
          <a:p>
            <a:pPr>
              <a:lnSpc>
                <a:spcPct val="100000"/>
              </a:lnSpc>
            </a:pPr>
            <a:r>
              <a:rPr lang="en-US" sz="2800" dirty="0">
                <a:solidFill>
                  <a:srgbClr val="606C9A"/>
                </a:solidFill>
                <a:latin typeface="MiSans" pitchFamily="34" charset="-122"/>
                <a:ea typeface="MiSans" pitchFamily="34" charset="-122"/>
                <a:cs typeface="MiSans" pitchFamily="34" charset="-120"/>
              </a:rPr>
              <a:t>根因复盘与调试原则</a:t>
            </a:r>
            <a:endParaRPr lang="en-US" sz="1600" dirty="0"/>
          </a:p>
        </p:txBody>
      </p:sp>
      <p:pic>
        <p:nvPicPr>
          <p:cNvPr id="17" name="Image 0" descr="https://kimi-img.moonshot.cn/pub/slides/slides_tmpl/image/25-08-27-20:04:40-d2nf8m18bjvh7rlj0aig.jpeg"/>
          <p:cNvPicPr>
            <a:picLocks noChangeAspect="1"/>
          </p:cNvPicPr>
          <p:nvPr/>
        </p:nvPicPr>
        <p:blipFill>
          <a:blip r:embed="rId1"/>
          <a:stretch>
            <a:fillRect/>
          </a:stretch>
        </p:blipFill>
        <p:spPr>
          <a:xfrm>
            <a:off x="9225604" y="602673"/>
            <a:ext cx="2492262" cy="1663701"/>
          </a:xfrm>
          <a:prstGeom prst="rect">
            <a:avLst/>
          </a:prstGeom>
        </p:spPr>
      </p:pic>
      <p:pic>
        <p:nvPicPr>
          <p:cNvPr id="18" name="Image 1" descr="https://kimi-img.moonshot.cn/pub/slides/slides_tmpl/image/25-08-27-20:04:41-d2nf8m98bjvh7rlj0ak0.jpeg"/>
          <p:cNvPicPr>
            <a:picLocks noChangeAspect="1"/>
          </p:cNvPicPr>
          <p:nvPr/>
        </p:nvPicPr>
        <p:blipFill>
          <a:blip r:embed="rId2"/>
          <a:stretch>
            <a:fillRect/>
          </a:stretch>
        </p:blipFill>
        <p:spPr>
          <a:xfrm>
            <a:off x="9225604" y="2378570"/>
            <a:ext cx="2492261" cy="3203246"/>
          </a:xfrm>
          <a:prstGeom prst="rect">
            <a:avLst/>
          </a:prstGeom>
        </p:spPr>
      </p:pic>
      <p:pic>
        <p:nvPicPr>
          <p:cNvPr id="19" name="Image 2" descr="https://kimi-img.moonshot.cn/pub/slides/slides_tmpl/image/25-08-27-20:04:41-d2nf8m98bjvh7rlj0aj0.jpeg"/>
          <p:cNvPicPr>
            <a:picLocks noChangeAspect="1"/>
          </p:cNvPicPr>
          <p:nvPr/>
        </p:nvPicPr>
        <p:blipFill>
          <a:blip r:embed="rId3"/>
          <a:stretch>
            <a:fillRect/>
          </a:stretch>
        </p:blipFill>
        <p:spPr>
          <a:xfrm>
            <a:off x="6675764" y="3873921"/>
            <a:ext cx="2408275" cy="1688295"/>
          </a:xfrm>
          <a:prstGeom prst="rect">
            <a:avLst/>
          </a:prstGeom>
        </p:spPr>
      </p:pic>
      <p:sp>
        <p:nvSpPr>
          <p:cNvPr id="20" name="Text 15"/>
          <p:cNvSpPr/>
          <p:nvPr/>
        </p:nvSpPr>
        <p:spPr>
          <a:xfrm>
            <a:off x="933450" y="1100455"/>
            <a:ext cx="3736975" cy="681990"/>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根因一：寄存器步长误用与排查教训</a:t>
            </a:r>
            <a:endParaRPr lang="en-US" sz="1600" dirty="0"/>
          </a:p>
        </p:txBody>
      </p:sp>
      <p:sp>
        <p:nvSpPr>
          <p:cNvPr id="21" name="Text 16"/>
          <p:cNvSpPr/>
          <p:nvPr/>
        </p:nvSpPr>
        <p:spPr>
          <a:xfrm>
            <a:off x="886460" y="1479233"/>
            <a:ext cx="3676650" cy="2420501"/>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NS16550寄存器物理布局仅8字节，使用大于1的步长导致寄存器访问越界，在QEMU上触发总线错误并被解释为取指故障。排查过程中一度将故障归因于内存映射权限不足，据此否决多个上游修改方案，阻塞近一周。最终通过同一页表映射内对比两种步长访问结果确认真实根因。核心教训：硬件访问异常时，应优先排查寄存器布局与地址计算，再考虑页表权限等系统级问题。</a:t>
            </a:r>
            <a:endParaRPr lang="en-US" sz="1600" dirty="0"/>
          </a:p>
        </p:txBody>
      </p:sp>
      <p:sp>
        <p:nvSpPr>
          <p:cNvPr id="22" name="Text 17"/>
          <p:cNvSpPr/>
          <p:nvPr/>
        </p:nvSpPr>
        <p:spPr>
          <a:xfrm>
            <a:off x="5115560" y="1106805"/>
            <a:ext cx="3836670"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根因二：非阻塞标志三入口未穷举</a:t>
            </a:r>
            <a:endParaRPr lang="en-US" sz="1600" dirty="0"/>
          </a:p>
        </p:txBody>
      </p:sp>
      <p:sp>
        <p:nvSpPr>
          <p:cNvPr id="23" name="Text 18"/>
          <p:cNvSpPr/>
          <p:nvPr/>
        </p:nvSpPr>
        <p:spPr>
          <a:xfrm>
            <a:off x="5002530" y="1479233"/>
            <a:ext cx="3650615" cy="2159159"/>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非阻塞读取标志需要从用户态一路传播到行规则模块。最初仅在ioctl这一个入口处理，遗漏文件打开和fcntl两个入口，导致用户在某些调用路径下设置了非阻塞标志却仍然阻塞等待。该缺陷暴露了跨层状态传播中的路径覆盖盲区。核心教训：跨层状态传播必须穷举所有可能的入口路径，一个遗漏就意味着功能不完整，状态一致性无法保证。</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D8E1FD"/>
            </a:gs>
            <a:gs pos="14000">
              <a:srgbClr val="C7D5FC"/>
            </a:gs>
            <a:gs pos="44000">
              <a:srgbClr val="FFF8DF"/>
            </a:gs>
            <a:gs pos="100000">
              <a:srgbClr val="D8E1FD"/>
            </a:gs>
          </a:gsLst>
          <a:lin ang="3000000" scaled="1"/>
        </a:gradFill>
        <a:effectLst/>
      </p:bgPr>
    </p:bg>
    <p:spTree>
      <p:nvGrpSpPr>
        <p:cNvPr id="1" name=""/>
        <p:cNvGrpSpPr/>
        <p:nvPr/>
      </p:nvGrpSpPr>
      <p:grpSpPr>
        <a:xfrm>
          <a:off x="0" y="0"/>
          <a:ext cx="0" cy="0"/>
          <a:chOff x="0" y="0"/>
          <a:chExt cx="0" cy="0"/>
        </a:xfrm>
      </p:grpSpPr>
      <p:sp>
        <p:nvSpPr>
          <p:cNvPr id="2" name="Shape 0"/>
          <p:cNvSpPr/>
          <p:nvPr/>
        </p:nvSpPr>
        <p:spPr>
          <a:xfrm>
            <a:off x="7315833" y="465368"/>
            <a:ext cx="133350" cy="137160"/>
          </a:xfrm>
          <a:prstGeom prst="ellipse">
            <a:avLst/>
          </a:prstGeom>
          <a:solidFill>
            <a:srgbClr val="FFFFFF"/>
          </a:solidFill>
        </p:spPr>
      </p:sp>
      <p:sp>
        <p:nvSpPr>
          <p:cNvPr id="3" name="Shape 1"/>
          <p:cNvSpPr/>
          <p:nvPr/>
        </p:nvSpPr>
        <p:spPr>
          <a:xfrm>
            <a:off x="7515858" y="465368"/>
            <a:ext cx="133350" cy="137160"/>
          </a:xfrm>
          <a:prstGeom prst="ellipse">
            <a:avLst/>
          </a:prstGeom>
          <a:solidFill>
            <a:srgbClr val="FFFFFF"/>
          </a:solidFill>
        </p:spPr>
      </p:sp>
      <p:sp>
        <p:nvSpPr>
          <p:cNvPr id="4" name="Shape 2"/>
          <p:cNvSpPr/>
          <p:nvPr/>
        </p:nvSpPr>
        <p:spPr>
          <a:xfrm>
            <a:off x="7715883" y="465368"/>
            <a:ext cx="133350" cy="137160"/>
          </a:xfrm>
          <a:prstGeom prst="ellipse">
            <a:avLst/>
          </a:prstGeom>
          <a:solidFill>
            <a:srgbClr val="FFFFFF"/>
          </a:solidFill>
        </p:spPr>
      </p:sp>
      <p:sp>
        <p:nvSpPr>
          <p:cNvPr id="5" name="Shape 3"/>
          <p:cNvSpPr/>
          <p:nvPr/>
        </p:nvSpPr>
        <p:spPr>
          <a:xfrm>
            <a:off x="7915908" y="465368"/>
            <a:ext cx="133350" cy="137160"/>
          </a:xfrm>
          <a:prstGeom prst="ellipse">
            <a:avLst/>
          </a:prstGeom>
          <a:solidFill>
            <a:srgbClr val="FFFFFF"/>
          </a:solidFill>
        </p:spPr>
      </p:sp>
      <p:sp>
        <p:nvSpPr>
          <p:cNvPr id="6" name="Shape 4"/>
          <p:cNvSpPr/>
          <p:nvPr/>
        </p:nvSpPr>
        <p:spPr>
          <a:xfrm>
            <a:off x="7108189" y="1198794"/>
            <a:ext cx="133350" cy="137160"/>
          </a:xfrm>
          <a:prstGeom prst="ellipse">
            <a:avLst/>
          </a:prstGeom>
          <a:solidFill>
            <a:srgbClr val="FFFFFF"/>
          </a:solidFill>
        </p:spPr>
      </p:sp>
      <p:sp>
        <p:nvSpPr>
          <p:cNvPr id="7" name="Shape 5"/>
          <p:cNvSpPr/>
          <p:nvPr/>
        </p:nvSpPr>
        <p:spPr>
          <a:xfrm>
            <a:off x="7108189" y="998768"/>
            <a:ext cx="133350" cy="137160"/>
          </a:xfrm>
          <a:prstGeom prst="ellipse">
            <a:avLst/>
          </a:prstGeom>
          <a:solidFill>
            <a:srgbClr val="FFFFFF"/>
          </a:solidFill>
        </p:spPr>
      </p:sp>
      <p:sp>
        <p:nvSpPr>
          <p:cNvPr id="8" name="Shape 6"/>
          <p:cNvSpPr/>
          <p:nvPr/>
        </p:nvSpPr>
        <p:spPr>
          <a:xfrm>
            <a:off x="7108189" y="798743"/>
            <a:ext cx="133350" cy="137160"/>
          </a:xfrm>
          <a:prstGeom prst="ellipse">
            <a:avLst/>
          </a:prstGeom>
          <a:solidFill>
            <a:srgbClr val="FFFFFF"/>
          </a:solidFill>
        </p:spPr>
      </p:sp>
      <p:sp>
        <p:nvSpPr>
          <p:cNvPr id="9" name="Shape 7"/>
          <p:cNvSpPr/>
          <p:nvPr/>
        </p:nvSpPr>
        <p:spPr>
          <a:xfrm>
            <a:off x="7108189" y="598719"/>
            <a:ext cx="133350" cy="137160"/>
          </a:xfrm>
          <a:prstGeom prst="ellipse">
            <a:avLst/>
          </a:prstGeom>
          <a:solidFill>
            <a:srgbClr val="FFFFFF"/>
          </a:solidFill>
        </p:spPr>
      </p:sp>
      <p:sp>
        <p:nvSpPr>
          <p:cNvPr id="10" name="Text 8"/>
          <p:cNvSpPr/>
          <p:nvPr/>
        </p:nvSpPr>
        <p:spPr>
          <a:xfrm>
            <a:off x="7364095" y="681990"/>
            <a:ext cx="3831590" cy="1950085"/>
          </a:xfrm>
          <a:prstGeom prst="rect">
            <a:avLst/>
          </a:prstGeom>
          <a:noFill/>
        </p:spPr>
        <p:txBody>
          <a:bodyPr wrap="square" lIns="91440" tIns="45720" rIns="91440" bIns="45720" rtlCol="0" anchor="t"/>
          <a:lstStyle/>
          <a:p>
            <a:pPr algn="just">
              <a:lnSpc>
                <a:spcPct val="100000"/>
              </a:lnSpc>
            </a:pPr>
            <a:r>
              <a:rPr lang="en-US" sz="2400" dirty="0">
                <a:solidFill>
                  <a:srgbClr val="606C9A"/>
                </a:solidFill>
                <a:latin typeface="MiSans" pitchFamily="34" charset="-122"/>
                <a:ea typeface="MiSans" pitchFamily="34" charset="-122"/>
                <a:cs typeface="MiSans" pitchFamily="34" charset="-120"/>
              </a:rPr>
              <a:t>反优化识别与方法论</a:t>
            </a:r>
            <a:endParaRPr lang="en-US" sz="1600" dirty="0"/>
          </a:p>
        </p:txBody>
      </p:sp>
      <p:sp>
        <p:nvSpPr>
          <p:cNvPr id="11" name="Shape 9"/>
          <p:cNvSpPr/>
          <p:nvPr/>
        </p:nvSpPr>
        <p:spPr>
          <a:xfrm>
            <a:off x="3281620" y="2525339"/>
            <a:ext cx="200024" cy="212992"/>
          </a:xfrm>
          <a:prstGeom prst="ellipse">
            <a:avLst/>
          </a:prstGeom>
          <a:solidFill>
            <a:srgbClr val="000000">
              <a:alpha val="0"/>
            </a:srgbClr>
          </a:solidFill>
          <a:ln w="41275">
            <a:solidFill>
              <a:srgbClr val="FFFFFF"/>
            </a:solidFill>
            <a:prstDash val="solid"/>
          </a:ln>
        </p:spPr>
      </p:sp>
      <p:sp>
        <p:nvSpPr>
          <p:cNvPr id="12" name="Shape 10"/>
          <p:cNvSpPr/>
          <p:nvPr/>
        </p:nvSpPr>
        <p:spPr>
          <a:xfrm>
            <a:off x="3348410" y="2565877"/>
            <a:ext cx="120259" cy="131914"/>
          </a:xfrm>
          <a:prstGeom prst="ellipse">
            <a:avLst/>
          </a:prstGeom>
          <a:solidFill>
            <a:srgbClr val="C1CEF6"/>
          </a:solidFill>
        </p:spPr>
      </p:sp>
      <p:sp>
        <p:nvSpPr>
          <p:cNvPr id="13" name="Shape 11"/>
          <p:cNvSpPr/>
          <p:nvPr/>
        </p:nvSpPr>
        <p:spPr>
          <a:xfrm>
            <a:off x="7435389" y="2522765"/>
            <a:ext cx="228803" cy="212992"/>
          </a:xfrm>
          <a:prstGeom prst="ellipse">
            <a:avLst/>
          </a:prstGeom>
          <a:solidFill>
            <a:srgbClr val="000000">
              <a:alpha val="0"/>
            </a:srgbClr>
          </a:solidFill>
          <a:ln w="41275">
            <a:solidFill>
              <a:srgbClr val="FFFFFF"/>
            </a:solidFill>
            <a:prstDash val="solid"/>
          </a:ln>
        </p:spPr>
      </p:sp>
      <p:sp>
        <p:nvSpPr>
          <p:cNvPr id="14" name="Shape 12"/>
          <p:cNvSpPr/>
          <p:nvPr/>
        </p:nvSpPr>
        <p:spPr>
          <a:xfrm>
            <a:off x="7511788" y="2563303"/>
            <a:ext cx="137562" cy="131914"/>
          </a:xfrm>
          <a:prstGeom prst="ellipse">
            <a:avLst/>
          </a:prstGeom>
          <a:solidFill>
            <a:srgbClr val="C1CEF6"/>
          </a:solidFill>
        </p:spPr>
      </p:sp>
      <p:pic>
        <p:nvPicPr>
          <p:cNvPr id="15" name="Image 0" descr="https://kimi-img.moonshot.cn/pub/slides/slides_tmpl/image/25-08-27-20:04:46-d2nf8nh8bjvh7rlj0av0.jpeg"/>
          <p:cNvPicPr>
            <a:picLocks noChangeAspect="1"/>
          </p:cNvPicPr>
          <p:nvPr/>
        </p:nvPicPr>
        <p:blipFill>
          <a:blip r:embed="rId1"/>
          <a:stretch>
            <a:fillRect/>
          </a:stretch>
        </p:blipFill>
        <p:spPr>
          <a:xfrm>
            <a:off x="-41234" y="21455"/>
            <a:ext cx="3039979" cy="2192535"/>
          </a:xfrm>
          <a:prstGeom prst="rect">
            <a:avLst/>
          </a:prstGeom>
        </p:spPr>
      </p:pic>
      <p:pic>
        <p:nvPicPr>
          <p:cNvPr id="16" name="Image 1" descr="https://kimi-img.moonshot.cn/pub/slides/slides_tmpl/image/25-08-27-20:04:47-d2nf8np8bjvh7rlj0b00.jpeg"/>
          <p:cNvPicPr>
            <a:picLocks noChangeAspect="1"/>
          </p:cNvPicPr>
          <p:nvPr/>
        </p:nvPicPr>
        <p:blipFill>
          <a:blip r:embed="rId2"/>
          <a:stretch>
            <a:fillRect/>
          </a:stretch>
        </p:blipFill>
        <p:spPr>
          <a:xfrm>
            <a:off x="0" y="2346909"/>
            <a:ext cx="3039978" cy="2060067"/>
          </a:xfrm>
          <a:prstGeom prst="rect">
            <a:avLst/>
          </a:prstGeom>
        </p:spPr>
      </p:pic>
      <p:pic>
        <p:nvPicPr>
          <p:cNvPr id="17" name="Image 2" descr="https://kimi-img.moonshot.cn/pub/slides/slides_tmpl/image/25-08-27-20:04:47-d2nf8np8bjvh7rlj0b10.jpeg"/>
          <p:cNvPicPr>
            <a:picLocks noChangeAspect="1"/>
          </p:cNvPicPr>
          <p:nvPr/>
        </p:nvPicPr>
        <p:blipFill>
          <a:blip r:embed="rId3"/>
          <a:stretch>
            <a:fillRect/>
          </a:stretch>
        </p:blipFill>
        <p:spPr>
          <a:xfrm>
            <a:off x="3149358" y="43920"/>
            <a:ext cx="3541163" cy="2192535"/>
          </a:xfrm>
          <a:prstGeom prst="rect">
            <a:avLst/>
          </a:prstGeom>
        </p:spPr>
      </p:pic>
      <p:sp>
        <p:nvSpPr>
          <p:cNvPr id="18" name="Shape 13"/>
          <p:cNvSpPr/>
          <p:nvPr/>
        </p:nvSpPr>
        <p:spPr>
          <a:xfrm>
            <a:off x="490795" y="4717359"/>
            <a:ext cx="200024" cy="212992"/>
          </a:xfrm>
          <a:prstGeom prst="ellipse">
            <a:avLst/>
          </a:prstGeom>
          <a:solidFill>
            <a:srgbClr val="000000">
              <a:alpha val="0"/>
            </a:srgbClr>
          </a:solidFill>
          <a:ln w="41275">
            <a:solidFill>
              <a:srgbClr val="FFFFFF"/>
            </a:solidFill>
            <a:prstDash val="solid"/>
          </a:ln>
        </p:spPr>
      </p:sp>
      <p:sp>
        <p:nvSpPr>
          <p:cNvPr id="19" name="Shape 14"/>
          <p:cNvSpPr/>
          <p:nvPr/>
        </p:nvSpPr>
        <p:spPr>
          <a:xfrm>
            <a:off x="557585" y="4757897"/>
            <a:ext cx="120259" cy="131914"/>
          </a:xfrm>
          <a:prstGeom prst="ellipse">
            <a:avLst/>
          </a:prstGeom>
          <a:solidFill>
            <a:srgbClr val="C1CEF6"/>
          </a:solidFill>
        </p:spPr>
      </p:sp>
      <p:sp>
        <p:nvSpPr>
          <p:cNvPr id="20" name="Shape 15"/>
          <p:cNvSpPr/>
          <p:nvPr/>
        </p:nvSpPr>
        <p:spPr>
          <a:xfrm>
            <a:off x="6246034" y="4735740"/>
            <a:ext cx="228803" cy="212992"/>
          </a:xfrm>
          <a:prstGeom prst="ellipse">
            <a:avLst/>
          </a:prstGeom>
          <a:solidFill>
            <a:srgbClr val="000000">
              <a:alpha val="0"/>
            </a:srgbClr>
          </a:solidFill>
          <a:ln w="41275">
            <a:solidFill>
              <a:srgbClr val="FFFFFF"/>
            </a:solidFill>
            <a:prstDash val="solid"/>
          </a:ln>
        </p:spPr>
      </p:sp>
      <p:sp>
        <p:nvSpPr>
          <p:cNvPr id="21" name="Shape 16"/>
          <p:cNvSpPr/>
          <p:nvPr/>
        </p:nvSpPr>
        <p:spPr>
          <a:xfrm>
            <a:off x="6322433" y="4776278"/>
            <a:ext cx="137562" cy="131914"/>
          </a:xfrm>
          <a:prstGeom prst="ellipse">
            <a:avLst/>
          </a:prstGeom>
          <a:solidFill>
            <a:srgbClr val="C1CEF6"/>
          </a:solidFill>
        </p:spPr>
      </p:sp>
      <p:sp>
        <p:nvSpPr>
          <p:cNvPr id="22" name="Text 17"/>
          <p:cNvSpPr/>
          <p:nvPr/>
        </p:nvSpPr>
        <p:spPr>
          <a:xfrm>
            <a:off x="3490595" y="2441575"/>
            <a:ext cx="3649980" cy="681990"/>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五类异步入库原语替换提案全部否决</a:t>
            </a:r>
            <a:endParaRPr lang="en-US" sz="1600" dirty="0"/>
          </a:p>
        </p:txBody>
      </p:sp>
      <p:sp>
        <p:nvSpPr>
          <p:cNvPr id="23" name="Text 18"/>
          <p:cNvSpPr/>
          <p:nvPr/>
        </p:nvSpPr>
        <p:spPr>
          <a:xfrm>
            <a:off x="3490595" y="3056335"/>
            <a:ext cx="3696335" cy="1383665"/>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对五类主流异步入库原语替换提案评估后全部判定为反优化：多生产者多消费者通道替换无锁单生产者单消费者环形缓冲区会丢失无锁特性；异步互斥锁替换同步自旋锁更慢且无法跨等待点持有；通知原语包装单个布尔标志属于过度设计；</a:t>
            </a:r>
            <a:endParaRPr lang="en-US" sz="1600" dirty="0"/>
          </a:p>
        </p:txBody>
      </p:sp>
      <p:sp>
        <p:nvSpPr>
          <p:cNvPr id="24" name="Text 19"/>
          <p:cNvSpPr/>
          <p:nvPr/>
        </p:nvSpPr>
        <p:spPr>
          <a:xfrm>
            <a:off x="699770" y="4633595"/>
            <a:ext cx="4378325"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通用分发结构替代静态原子唤醒的否决</a:t>
            </a:r>
            <a:endParaRPr lang="en-US" sz="1600" dirty="0"/>
          </a:p>
        </p:txBody>
      </p:sp>
      <p:sp>
        <p:nvSpPr>
          <p:cNvPr id="25" name="Text 20"/>
          <p:cNvSpPr/>
          <p:nvPr/>
        </p:nvSpPr>
        <p:spPr>
          <a:xfrm>
            <a:off x="718820" y="5039995"/>
            <a:ext cx="4378960" cy="1375331"/>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对用通用分发结构替代静态原子唤醒的提案同样否决：在唤醒目标固定且数量极少的场景下，静态唤醒已是常数时间复杂度，通用结构反而引入不必要的开销和间接层。该决策基于对实际唤醒路径和频率的量化分析，而非抽象层面的主观偏好。</a:t>
            </a:r>
            <a:endParaRPr lang="en-US" sz="1600" dirty="0"/>
          </a:p>
        </p:txBody>
      </p:sp>
      <p:sp>
        <p:nvSpPr>
          <p:cNvPr id="26" name="Text 21"/>
          <p:cNvSpPr/>
          <p:nvPr/>
        </p:nvSpPr>
        <p:spPr>
          <a:xfrm>
            <a:off x="7723505" y="2443480"/>
            <a:ext cx="4273550"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反优化识别原则建立</a:t>
            </a:r>
            <a:endParaRPr lang="en-US" sz="1600" dirty="0"/>
          </a:p>
        </p:txBody>
      </p:sp>
      <p:sp>
        <p:nvSpPr>
          <p:cNvPr id="27" name="Text 22"/>
          <p:cNvSpPr/>
          <p:nvPr/>
        </p:nvSpPr>
        <p:spPr>
          <a:xfrm>
            <a:off x="7734935" y="2929573"/>
            <a:ext cx="3825240" cy="1636673"/>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建立先用轻量原语、复杂方案需评估改动范围与性能基准的反优化识别原则。在评估五类异步入库原语替换提案后，明确将其全部判定为反优化，避免后续在错误的抽象上投入精力。该原则要求任何引入新抽象的提案必须附带性能基准对比和改动范围评估，否则默认否决。</a:t>
            </a:r>
            <a:endParaRPr lang="en-US" sz="1600" dirty="0"/>
          </a:p>
        </p:txBody>
      </p:sp>
      <p:sp>
        <p:nvSpPr>
          <p:cNvPr id="28" name="Text 23"/>
          <p:cNvSpPr/>
          <p:nvPr/>
        </p:nvSpPr>
        <p:spPr>
          <a:xfrm>
            <a:off x="6534150" y="4656455"/>
            <a:ext cx="5025390"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知识沉淀体系的完整构建</a:t>
            </a:r>
            <a:endParaRPr lang="en-US" sz="1600" dirty="0"/>
          </a:p>
        </p:txBody>
      </p:sp>
      <p:sp>
        <p:nvSpPr>
          <p:cNvPr id="29" name="Text 24"/>
          <p:cNvSpPr/>
          <p:nvPr/>
        </p:nvSpPr>
        <p:spPr>
          <a:xfrm>
            <a:off x="6534150" y="5039360"/>
            <a:ext cx="5026025" cy="1636673"/>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建立从架构决策、踩坑档案、优化条目到反优化判定的完整知识沉淀体系。架构层面完整记录异步运行时选型、缓冲策略、虚拟文件系统接口等关键设计选择；踩坑层面将两个重大根因的现象、误诊过程、真实根因和验证方法沉淀为详细档案；性能层面建立优化条目库，明确标识实施状态、预期收益和优先级。</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38-d2nf8lh8bjvh7rlj0aeg.png"/>
          <p:cNvPicPr>
            <a:picLocks noChangeAspect="1"/>
          </p:cNvPicPr>
          <p:nvPr/>
        </p:nvPicPr>
        <p:blipFill>
          <a:blip r:embed="rId1"/>
          <a:stretch>
            <a:fillRect/>
          </a:stretch>
        </p:blipFill>
        <p:spPr>
          <a:xfrm>
            <a:off x="4928399" y="517692"/>
            <a:ext cx="7251700" cy="6340308"/>
          </a:xfrm>
          <a:prstGeom prst="rect">
            <a:avLst/>
          </a:prstGeom>
        </p:spPr>
      </p:pic>
      <p:sp>
        <p:nvSpPr>
          <p:cNvPr id="3" name="Text 0"/>
          <p:cNvSpPr/>
          <p:nvPr/>
        </p:nvSpPr>
        <p:spPr>
          <a:xfrm>
            <a:off x="7048502" y="2308860"/>
            <a:ext cx="4599086" cy="3952042"/>
          </a:xfrm>
          <a:prstGeom prst="rect">
            <a:avLst/>
          </a:prstGeom>
          <a:noFill/>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122"/>
                <a:ea typeface="MiSans" pitchFamily="34" charset="-122"/>
                <a:cs typeface="MiSans" pitchFamily="34" charset="-120"/>
              </a:rPr>
              <a:t>05</a:t>
            </a:r>
            <a:endParaRPr lang="en-US" sz="1600" dirty="0"/>
          </a:p>
        </p:txBody>
      </p:sp>
      <p:sp>
        <p:nvSpPr>
          <p:cNvPr id="4" name="Text 1"/>
          <p:cNvSpPr/>
          <p:nvPr/>
        </p:nvSpPr>
        <p:spPr>
          <a:xfrm>
            <a:off x="797560" y="1932305"/>
            <a:ext cx="10755630" cy="714931"/>
          </a:xfrm>
          <a:prstGeom prst="rect">
            <a:avLst/>
          </a:prstGeom>
          <a:noFill/>
        </p:spPr>
        <p:txBody>
          <a:bodyPr wrap="square" lIns="91440" tIns="45720" rIns="91440" bIns="45720" rtlCol="0" anchor="ctr">
            <a:spAutoFit/>
          </a:bodyPr>
          <a:lstStyle/>
          <a:p>
            <a:pPr>
              <a:lnSpc>
                <a:spcPct val="100000"/>
              </a:lnSpc>
            </a:pPr>
            <a:r>
              <a:rPr lang="en-US" sz="4000" dirty="0">
                <a:solidFill>
                  <a:srgbClr val="6D7AAF"/>
                </a:solidFill>
                <a:latin typeface="MiSans" pitchFamily="34" charset="-122"/>
                <a:ea typeface="MiSans" pitchFamily="34" charset="-122"/>
                <a:cs typeface="MiSans" pitchFamily="34" charset="-120"/>
              </a:rPr>
              <a:t>设计模式与展望</a:t>
            </a:r>
            <a:endParaRPr lang="en-US" sz="1600" dirty="0"/>
          </a:p>
        </p:txBody>
      </p:sp>
      <p:sp>
        <p:nvSpPr>
          <p:cNvPr id="5" name="Shape 2"/>
          <p:cNvSpPr/>
          <p:nvPr/>
        </p:nvSpPr>
        <p:spPr>
          <a:xfrm>
            <a:off x="731049" y="856006"/>
            <a:ext cx="133350" cy="137160"/>
          </a:xfrm>
          <a:prstGeom prst="ellipse">
            <a:avLst/>
          </a:prstGeom>
          <a:solidFill>
            <a:srgbClr val="FFFFFF"/>
          </a:solidFill>
        </p:spPr>
      </p:sp>
      <p:sp>
        <p:nvSpPr>
          <p:cNvPr id="6" name="Shape 3"/>
          <p:cNvSpPr/>
          <p:nvPr/>
        </p:nvSpPr>
        <p:spPr>
          <a:xfrm>
            <a:off x="931074" y="856006"/>
            <a:ext cx="133350" cy="137160"/>
          </a:xfrm>
          <a:prstGeom prst="ellipse">
            <a:avLst/>
          </a:prstGeom>
          <a:solidFill>
            <a:srgbClr val="FFFFFF"/>
          </a:solidFill>
        </p:spPr>
      </p:sp>
      <p:sp>
        <p:nvSpPr>
          <p:cNvPr id="7" name="Shape 4"/>
          <p:cNvSpPr/>
          <p:nvPr/>
        </p:nvSpPr>
        <p:spPr>
          <a:xfrm>
            <a:off x="1131099" y="856006"/>
            <a:ext cx="133350" cy="137160"/>
          </a:xfrm>
          <a:prstGeom prst="ellipse">
            <a:avLst/>
          </a:prstGeom>
          <a:solidFill>
            <a:srgbClr val="FFFFFF"/>
          </a:solidFill>
        </p:spPr>
      </p:sp>
      <p:sp>
        <p:nvSpPr>
          <p:cNvPr id="8" name="Shape 5"/>
          <p:cNvSpPr/>
          <p:nvPr/>
        </p:nvSpPr>
        <p:spPr>
          <a:xfrm>
            <a:off x="1331124" y="856006"/>
            <a:ext cx="133350" cy="137160"/>
          </a:xfrm>
          <a:prstGeom prst="ellipse">
            <a:avLst/>
          </a:prstGeom>
          <a:solidFill>
            <a:srgbClr val="FFFFFF"/>
          </a:solidFill>
        </p:spPr>
      </p:sp>
      <p:sp>
        <p:nvSpPr>
          <p:cNvPr id="9" name="Shape 6"/>
          <p:cNvSpPr/>
          <p:nvPr/>
        </p:nvSpPr>
        <p:spPr>
          <a:xfrm>
            <a:off x="527687" y="1596530"/>
            <a:ext cx="133350" cy="137160"/>
          </a:xfrm>
          <a:prstGeom prst="ellipse">
            <a:avLst/>
          </a:prstGeom>
          <a:solidFill>
            <a:srgbClr val="FFFFFF"/>
          </a:solidFill>
        </p:spPr>
      </p:sp>
      <p:sp>
        <p:nvSpPr>
          <p:cNvPr id="10" name="Shape 7"/>
          <p:cNvSpPr/>
          <p:nvPr/>
        </p:nvSpPr>
        <p:spPr>
          <a:xfrm>
            <a:off x="527687" y="1396504"/>
            <a:ext cx="133350" cy="137160"/>
          </a:xfrm>
          <a:prstGeom prst="ellipse">
            <a:avLst/>
          </a:prstGeom>
          <a:solidFill>
            <a:srgbClr val="FFFFFF"/>
          </a:solidFill>
        </p:spPr>
      </p:sp>
      <p:sp>
        <p:nvSpPr>
          <p:cNvPr id="11" name="Shape 8"/>
          <p:cNvSpPr/>
          <p:nvPr/>
        </p:nvSpPr>
        <p:spPr>
          <a:xfrm>
            <a:off x="527687" y="1196479"/>
            <a:ext cx="133350" cy="137160"/>
          </a:xfrm>
          <a:prstGeom prst="ellipse">
            <a:avLst/>
          </a:prstGeom>
          <a:solidFill>
            <a:srgbClr val="FFFFFF"/>
          </a:solidFill>
        </p:spPr>
      </p:sp>
      <p:sp>
        <p:nvSpPr>
          <p:cNvPr id="12" name="Shape 9"/>
          <p:cNvSpPr/>
          <p:nvPr/>
        </p:nvSpPr>
        <p:spPr>
          <a:xfrm>
            <a:off x="527687" y="996455"/>
            <a:ext cx="133350" cy="137160"/>
          </a:xfrm>
          <a:prstGeom prst="ellipse">
            <a:avLst/>
          </a:prstGeom>
          <a:solidFill>
            <a:srgbClr val="FFFFFF"/>
          </a:solidFill>
        </p:spPr>
      </p:sp>
      <p:pic>
        <p:nvPicPr>
          <p:cNvPr id="13" name="Image 1" descr="https://kimi-img.moonshot.cn/pub/slides/slides_tmpl/image/25-08-27-20:04:34-d2nf8kh8bjvh7rlj0a80.png"/>
          <p:cNvPicPr>
            <a:picLocks noChangeAspect="1"/>
          </p:cNvPicPr>
          <p:nvPr/>
        </p:nvPicPr>
        <p:blipFill>
          <a:blip r:embed="rId2">
            <a:alphaModFix amt="59000"/>
          </a:blip>
          <a:stretch>
            <a:fillRect/>
          </a:stretch>
        </p:blipFill>
        <p:spPr>
          <a:xfrm>
            <a:off x="5131435" y="330200"/>
            <a:ext cx="7048500" cy="6197600"/>
          </a:xfrm>
          <a:prstGeom prst="rect">
            <a:avLst/>
          </a:prstGeom>
        </p:spPr>
      </p:pic>
      <p:pic>
        <p:nvPicPr>
          <p:cNvPr id="14" name="Image 2" descr="https://kimi-img.moonshot.cn/pub/slides/slides_tmpl/image/25-08-27-20:04:33-d2nf8k98bjvh7rlj0a7g.png"/>
          <p:cNvPicPr>
            <a:picLocks noChangeAspect="1"/>
          </p:cNvPicPr>
          <p:nvPr/>
        </p:nvPicPr>
        <p:blipFill>
          <a:blip r:embed="rId3"/>
          <a:stretch>
            <a:fillRect/>
          </a:stretch>
        </p:blipFill>
        <p:spPr>
          <a:xfrm>
            <a:off x="0" y="3797300"/>
            <a:ext cx="5143500" cy="3060700"/>
          </a:xfrm>
          <a:prstGeom prst="rect">
            <a:avLst/>
          </a:prstGeom>
        </p:spPr>
      </p:pic>
      <p:pic>
        <p:nvPicPr>
          <p:cNvPr id="15" name="Image 3" descr="https://kimi-img.moonshot.cn/pub/slides/slides_tmpl/image/25-08-27-20:04:32-d2nf8k18bjvh7rlj0a5g.png"/>
          <p:cNvPicPr>
            <a:picLocks noChangeAspect="1"/>
          </p:cNvPicPr>
          <p:nvPr/>
        </p:nvPicPr>
        <p:blipFill>
          <a:blip r:embed="rId4"/>
          <a:stretch>
            <a:fillRect/>
          </a:stretch>
        </p:blipFill>
        <p:spPr>
          <a:xfrm>
            <a:off x="512445" y="4587240"/>
            <a:ext cx="152400" cy="1524000"/>
          </a:xfrm>
          <a:prstGeom prst="rect">
            <a:avLst/>
          </a:prstGeom>
        </p:spPr>
      </p:pic>
      <p:pic>
        <p:nvPicPr>
          <p:cNvPr id="16" name="Image 4" descr="https://kimi-img.moonshot.cn/pub/slides/slides_tmpl/image/25-08-27-20:04:32-d2nf8k18bjvh7rlj0a60.png"/>
          <p:cNvPicPr>
            <a:picLocks noChangeAspect="1"/>
          </p:cNvPicPr>
          <p:nvPr/>
        </p:nvPicPr>
        <p:blipFill>
          <a:blip r:embed="rId5"/>
          <a:stretch>
            <a:fillRect/>
          </a:stretch>
        </p:blipFill>
        <p:spPr>
          <a:xfrm>
            <a:off x="1311275" y="3907257"/>
            <a:ext cx="1320800" cy="1371600"/>
          </a:xfrm>
          <a:prstGeom prst="rect">
            <a:avLst/>
          </a:prstGeom>
        </p:spPr>
      </p:pic>
      <p:pic>
        <p:nvPicPr>
          <p:cNvPr id="17" name="Image 5" descr="https://kimi-img.moonshot.cn/pub/slides/slides_tmpl/image/25-08-27-20:04:32-d2nf8k18bjvh7rlj0a6g.png"/>
          <p:cNvPicPr>
            <a:picLocks noChangeAspect="1"/>
          </p:cNvPicPr>
          <p:nvPr/>
        </p:nvPicPr>
        <p:blipFill>
          <a:blip r:embed="rId6"/>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p:spPr>
      </p:sp>
      <p:pic>
        <p:nvPicPr>
          <p:cNvPr id="19" name="Image 6" descr="https://kimi-img.moonshot.cn/pub/slides/slides_tmpl/image/25-08-27-20:04:32-d2nf8k18bjvh7rlj0a60.png"/>
          <p:cNvPicPr>
            <a:picLocks noChangeAspect="1"/>
          </p:cNvPicPr>
          <p:nvPr/>
        </p:nvPicPr>
        <p:blipFill>
          <a:blip r:embed="rId5"/>
          <a:stretch>
            <a:fillRect/>
          </a:stretch>
        </p:blipFill>
        <p:spPr>
          <a:xfrm>
            <a:off x="11187651" y="1515914"/>
            <a:ext cx="731154" cy="676035"/>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FF2C6"/>
            </a:gs>
            <a:gs pos="51000">
              <a:srgbClr val="D8E1FD"/>
            </a:gs>
            <a:gs pos="83000">
              <a:srgbClr val="D8E1FD"/>
            </a:gs>
            <a:gs pos="99000">
              <a:srgbClr val="C7D5FC"/>
            </a:gs>
            <a:gs pos="100000">
              <a:srgbClr val="C7D5FC"/>
            </a:gs>
          </a:gsLst>
          <a:lin ang="78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4:43-d2nf8mp8bjvh7rlj0ao0.jpeg"/>
          <p:cNvPicPr>
            <a:picLocks noChangeAspect="1"/>
          </p:cNvPicPr>
          <p:nvPr/>
        </p:nvPicPr>
        <p:blipFill>
          <a:blip r:embed="rId1"/>
          <a:stretch>
            <a:fillRect/>
          </a:stretch>
        </p:blipFill>
        <p:spPr>
          <a:xfrm>
            <a:off x="0" y="-16611"/>
            <a:ext cx="5143500" cy="6858000"/>
          </a:xfrm>
          <a:prstGeom prst="rect">
            <a:avLst/>
          </a:prstGeom>
        </p:spPr>
      </p:pic>
      <p:sp>
        <p:nvSpPr>
          <p:cNvPr id="3" name="Shape 0"/>
          <p:cNvSpPr/>
          <p:nvPr/>
        </p:nvSpPr>
        <p:spPr>
          <a:xfrm>
            <a:off x="5939718" y="323676"/>
            <a:ext cx="133350" cy="137160"/>
          </a:xfrm>
          <a:prstGeom prst="ellipse">
            <a:avLst/>
          </a:prstGeom>
          <a:solidFill>
            <a:srgbClr val="FFFFFF"/>
          </a:solidFill>
        </p:spPr>
      </p:sp>
      <p:sp>
        <p:nvSpPr>
          <p:cNvPr id="4" name="Shape 1"/>
          <p:cNvSpPr/>
          <p:nvPr/>
        </p:nvSpPr>
        <p:spPr>
          <a:xfrm>
            <a:off x="6139743" y="323676"/>
            <a:ext cx="133350" cy="137160"/>
          </a:xfrm>
          <a:prstGeom prst="ellipse">
            <a:avLst/>
          </a:prstGeom>
          <a:solidFill>
            <a:srgbClr val="FFFFFF"/>
          </a:solidFill>
        </p:spPr>
      </p:sp>
      <p:sp>
        <p:nvSpPr>
          <p:cNvPr id="5" name="Shape 2"/>
          <p:cNvSpPr/>
          <p:nvPr/>
        </p:nvSpPr>
        <p:spPr>
          <a:xfrm>
            <a:off x="6339768" y="323676"/>
            <a:ext cx="133350" cy="137160"/>
          </a:xfrm>
          <a:prstGeom prst="ellipse">
            <a:avLst/>
          </a:prstGeom>
          <a:solidFill>
            <a:srgbClr val="FFFFFF"/>
          </a:solidFill>
        </p:spPr>
      </p:sp>
      <p:sp>
        <p:nvSpPr>
          <p:cNvPr id="6" name="Shape 3"/>
          <p:cNvSpPr/>
          <p:nvPr/>
        </p:nvSpPr>
        <p:spPr>
          <a:xfrm>
            <a:off x="6539793" y="323676"/>
            <a:ext cx="133350" cy="137160"/>
          </a:xfrm>
          <a:prstGeom prst="ellipse">
            <a:avLst/>
          </a:prstGeom>
          <a:solidFill>
            <a:srgbClr val="FFFFFF"/>
          </a:solidFill>
        </p:spPr>
      </p:sp>
      <p:sp>
        <p:nvSpPr>
          <p:cNvPr id="7" name="Shape 4"/>
          <p:cNvSpPr/>
          <p:nvPr/>
        </p:nvSpPr>
        <p:spPr>
          <a:xfrm>
            <a:off x="5736356" y="1064200"/>
            <a:ext cx="133350" cy="137160"/>
          </a:xfrm>
          <a:prstGeom prst="ellipse">
            <a:avLst/>
          </a:prstGeom>
          <a:solidFill>
            <a:srgbClr val="FFFFFF"/>
          </a:solidFill>
        </p:spPr>
      </p:sp>
      <p:sp>
        <p:nvSpPr>
          <p:cNvPr id="8" name="Shape 5"/>
          <p:cNvSpPr/>
          <p:nvPr/>
        </p:nvSpPr>
        <p:spPr>
          <a:xfrm>
            <a:off x="5736356" y="864174"/>
            <a:ext cx="133350" cy="137160"/>
          </a:xfrm>
          <a:prstGeom prst="ellipse">
            <a:avLst/>
          </a:prstGeom>
          <a:solidFill>
            <a:srgbClr val="FFFFFF"/>
          </a:solidFill>
        </p:spPr>
      </p:sp>
      <p:sp>
        <p:nvSpPr>
          <p:cNvPr id="9" name="Shape 6"/>
          <p:cNvSpPr/>
          <p:nvPr/>
        </p:nvSpPr>
        <p:spPr>
          <a:xfrm>
            <a:off x="5736356" y="664149"/>
            <a:ext cx="133350" cy="137160"/>
          </a:xfrm>
          <a:prstGeom prst="ellipse">
            <a:avLst/>
          </a:prstGeom>
          <a:solidFill>
            <a:srgbClr val="FFFFFF"/>
          </a:solidFill>
        </p:spPr>
      </p:sp>
      <p:sp>
        <p:nvSpPr>
          <p:cNvPr id="10" name="Shape 7"/>
          <p:cNvSpPr/>
          <p:nvPr/>
        </p:nvSpPr>
        <p:spPr>
          <a:xfrm>
            <a:off x="5736356" y="464125"/>
            <a:ext cx="133350" cy="137160"/>
          </a:xfrm>
          <a:prstGeom prst="ellipse">
            <a:avLst/>
          </a:prstGeom>
          <a:solidFill>
            <a:srgbClr val="FFFFFF"/>
          </a:solidFill>
        </p:spPr>
      </p:sp>
      <p:sp>
        <p:nvSpPr>
          <p:cNvPr id="11" name="Text 8"/>
          <p:cNvSpPr/>
          <p:nvPr/>
        </p:nvSpPr>
        <p:spPr>
          <a:xfrm>
            <a:off x="6004560" y="530225"/>
            <a:ext cx="5942330" cy="777875"/>
          </a:xfrm>
          <a:prstGeom prst="rect">
            <a:avLst/>
          </a:prstGeom>
          <a:noFill/>
        </p:spPr>
        <p:txBody>
          <a:bodyPr wrap="square" lIns="91440" tIns="45720" rIns="91440" bIns="45720" rtlCol="0" anchor="t"/>
          <a:lstStyle/>
          <a:p>
            <a:pPr algn="just">
              <a:lnSpc>
                <a:spcPct val="100000"/>
              </a:lnSpc>
            </a:pPr>
            <a:r>
              <a:rPr lang="en-US" sz="2400" dirty="0">
                <a:solidFill>
                  <a:srgbClr val="606C9A"/>
                </a:solidFill>
                <a:latin typeface="MiSans" pitchFamily="34" charset="-122"/>
                <a:ea typeface="MiSans" pitchFamily="34" charset="-122"/>
                <a:cs typeface="MiSans" pitchFamily="34" charset="-120"/>
              </a:rPr>
              <a:t>九条可复用设计模式</a:t>
            </a:r>
            <a:endParaRPr lang="en-US" sz="1600" dirty="0"/>
          </a:p>
        </p:txBody>
      </p:sp>
      <p:sp>
        <p:nvSpPr>
          <p:cNvPr id="12" name="Shape 9"/>
          <p:cNvSpPr/>
          <p:nvPr/>
        </p:nvSpPr>
        <p:spPr>
          <a:xfrm>
            <a:off x="5709664" y="4946665"/>
            <a:ext cx="228803" cy="212992"/>
          </a:xfrm>
          <a:prstGeom prst="ellipse">
            <a:avLst/>
          </a:prstGeom>
          <a:solidFill>
            <a:srgbClr val="000000">
              <a:alpha val="0"/>
            </a:srgbClr>
          </a:solidFill>
          <a:ln w="41275">
            <a:solidFill>
              <a:srgbClr val="FFFFFF"/>
            </a:solidFill>
            <a:prstDash val="solid"/>
          </a:ln>
        </p:spPr>
      </p:sp>
      <p:sp>
        <p:nvSpPr>
          <p:cNvPr id="13" name="Shape 10"/>
          <p:cNvSpPr/>
          <p:nvPr/>
        </p:nvSpPr>
        <p:spPr>
          <a:xfrm>
            <a:off x="5786063" y="4987203"/>
            <a:ext cx="137562" cy="131914"/>
          </a:xfrm>
          <a:prstGeom prst="ellipse">
            <a:avLst/>
          </a:prstGeom>
          <a:solidFill>
            <a:srgbClr val="C1CEF6"/>
          </a:solidFill>
        </p:spPr>
      </p:sp>
      <p:sp>
        <p:nvSpPr>
          <p:cNvPr id="14" name="Shape 11"/>
          <p:cNvSpPr/>
          <p:nvPr/>
        </p:nvSpPr>
        <p:spPr>
          <a:xfrm>
            <a:off x="5709664" y="1477739"/>
            <a:ext cx="228803" cy="212992"/>
          </a:xfrm>
          <a:prstGeom prst="ellipse">
            <a:avLst/>
          </a:prstGeom>
          <a:solidFill>
            <a:srgbClr val="000000">
              <a:alpha val="0"/>
            </a:srgbClr>
          </a:solidFill>
          <a:ln w="41275">
            <a:solidFill>
              <a:srgbClr val="FFFFFF"/>
            </a:solidFill>
            <a:prstDash val="solid"/>
          </a:ln>
        </p:spPr>
      </p:sp>
      <p:sp>
        <p:nvSpPr>
          <p:cNvPr id="15" name="Shape 12"/>
          <p:cNvSpPr/>
          <p:nvPr/>
        </p:nvSpPr>
        <p:spPr>
          <a:xfrm>
            <a:off x="5786063" y="1518277"/>
            <a:ext cx="137562" cy="131914"/>
          </a:xfrm>
          <a:prstGeom prst="ellipse">
            <a:avLst/>
          </a:prstGeom>
          <a:solidFill>
            <a:srgbClr val="C1CEF6"/>
          </a:solidFill>
        </p:spPr>
      </p:sp>
      <p:sp>
        <p:nvSpPr>
          <p:cNvPr id="16" name="Shape 13"/>
          <p:cNvSpPr/>
          <p:nvPr/>
        </p:nvSpPr>
        <p:spPr>
          <a:xfrm>
            <a:off x="5709664" y="3201496"/>
            <a:ext cx="228803" cy="212992"/>
          </a:xfrm>
          <a:prstGeom prst="ellipse">
            <a:avLst/>
          </a:prstGeom>
          <a:solidFill>
            <a:srgbClr val="000000">
              <a:alpha val="0"/>
            </a:srgbClr>
          </a:solidFill>
          <a:ln w="41275">
            <a:solidFill>
              <a:srgbClr val="FFFFFF"/>
            </a:solidFill>
            <a:prstDash val="solid"/>
          </a:ln>
        </p:spPr>
      </p:sp>
      <p:sp>
        <p:nvSpPr>
          <p:cNvPr id="17" name="Shape 14"/>
          <p:cNvSpPr/>
          <p:nvPr/>
        </p:nvSpPr>
        <p:spPr>
          <a:xfrm>
            <a:off x="5786063" y="3242034"/>
            <a:ext cx="137562" cy="131914"/>
          </a:xfrm>
          <a:prstGeom prst="ellipse">
            <a:avLst/>
          </a:prstGeom>
          <a:solidFill>
            <a:srgbClr val="C1CEF6"/>
          </a:solidFill>
        </p:spPr>
      </p:sp>
      <p:sp>
        <p:nvSpPr>
          <p:cNvPr id="18" name="Text 15"/>
          <p:cNvSpPr/>
          <p:nvPr/>
        </p:nvSpPr>
        <p:spPr>
          <a:xfrm>
            <a:off x="6002020" y="1406525"/>
            <a:ext cx="5871845"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核心驱动与中断处理模式</a:t>
            </a:r>
            <a:endParaRPr lang="en-US" sz="1600" dirty="0"/>
          </a:p>
        </p:txBody>
      </p:sp>
      <p:sp>
        <p:nvSpPr>
          <p:cNvPr id="19" name="Text 16"/>
          <p:cNvSpPr/>
          <p:nvPr/>
        </p:nvSpPr>
        <p:spPr>
          <a:xfrm>
            <a:off x="6000115" y="1852930"/>
            <a:ext cx="5942330" cy="1420574"/>
          </a:xfrm>
          <a:prstGeom prst="rect">
            <a:avLst/>
          </a:prstGeom>
          <a:noFill/>
        </p:spPr>
        <p:txBody>
          <a:bodyPr wrap="square" lIns="91440" tIns="45720" rIns="91440" bIns="45720" rtlCol="0" anchor="t">
            <a:spAutoFit/>
          </a:bodyPr>
          <a:lstStyle/>
          <a:p>
            <a:pPr>
              <a:lnSpc>
                <a:spcPct val="100000"/>
              </a:lnSpc>
            </a:pPr>
            <a:r>
              <a:rPr lang="en-US" sz="1600" dirty="0">
                <a:solidFill>
                  <a:srgbClr val="606C9A"/>
                </a:solidFill>
                <a:latin typeface="MiSans" pitchFamily="34" charset="-122"/>
                <a:ea typeface="MiSans" pitchFamily="34" charset="-122"/>
                <a:cs typeface="MiSans" pitchFamily="34" charset="-120"/>
              </a:rPr>
              <a:t>模式一至三：环形缓冲区加中断处理加后台搬运任务三件套，ISR只唤醒、后台做数据搬运；标准化设备注册框架，所有设备走同一接入路径；终端层通过读写trait泛型绑定实现终端栈与具体驱动的解耦。这三条模式构成了异步驱动与上层系统交互的基础架构，可直接复用于其他字符设备驱动。</a:t>
            </a:r>
            <a:endParaRPr lang="en-US" sz="1600" dirty="0"/>
          </a:p>
        </p:txBody>
      </p:sp>
      <p:sp>
        <p:nvSpPr>
          <p:cNvPr id="20" name="Text 17"/>
          <p:cNvSpPr/>
          <p:nvPr/>
        </p:nvSpPr>
        <p:spPr>
          <a:xfrm>
            <a:off x="6000115" y="3134995"/>
            <a:ext cx="5874385"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性能优化与资源管理策略</a:t>
            </a:r>
            <a:endParaRPr lang="en-US" sz="1600" dirty="0"/>
          </a:p>
        </p:txBody>
      </p:sp>
      <p:sp>
        <p:nvSpPr>
          <p:cNvPr id="21" name="Text 18"/>
          <p:cNvSpPr/>
          <p:nvPr/>
        </p:nvSpPr>
        <p:spPr>
          <a:xfrm>
            <a:off x="5938520" y="3534410"/>
            <a:ext cx="5942330" cy="1420574"/>
          </a:xfrm>
          <a:prstGeom prst="rect">
            <a:avLst/>
          </a:prstGeom>
          <a:noFill/>
        </p:spPr>
        <p:txBody>
          <a:bodyPr wrap="square" lIns="91440" tIns="45720" rIns="91440" bIns="45720" rtlCol="0" anchor="t">
            <a:spAutoFit/>
          </a:bodyPr>
          <a:lstStyle/>
          <a:p>
            <a:pPr>
              <a:lnSpc>
                <a:spcPct val="100000"/>
              </a:lnSpc>
            </a:pPr>
            <a:r>
              <a:rPr lang="en-US" sz="1600" dirty="0">
                <a:solidFill>
                  <a:srgbClr val="606C9A"/>
                </a:solidFill>
                <a:latin typeface="MiSans" pitchFamily="34" charset="-122"/>
                <a:ea typeface="MiSans" pitchFamily="34" charset="-122"/>
                <a:cs typeface="MiSans" pitchFamily="34" charset="-120"/>
              </a:rPr>
              <a:t>模式四至六：中断合并与轮询模式动态切换，高吞吐场景自动减少中断次数；批量读写接口替代逐字节操作，减少系统调用开销；本地游标追踪已发送位置，避免内核日志与用户态输出交错。这三条模式针对高吞吐场景的资源效率优化，已在串口驱动中验证有效，适用于同类FIFO型硬件设备。</a:t>
            </a:r>
            <a:endParaRPr lang="en-US" sz="1600" dirty="0"/>
          </a:p>
        </p:txBody>
      </p:sp>
      <p:sp>
        <p:nvSpPr>
          <p:cNvPr id="22" name="Text 19"/>
          <p:cNvSpPr/>
          <p:nvPr/>
        </p:nvSpPr>
        <p:spPr>
          <a:xfrm>
            <a:off x="6000115" y="4879975"/>
            <a:ext cx="5874385"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低延迟与极简ISR设计原则</a:t>
            </a:r>
            <a:endParaRPr lang="en-US" sz="1600" dirty="0"/>
          </a:p>
        </p:txBody>
      </p:sp>
      <p:sp>
        <p:nvSpPr>
          <p:cNvPr id="23" name="Text 20"/>
          <p:cNvSpPr/>
          <p:nvPr/>
        </p:nvSpPr>
        <p:spPr>
          <a:xfrm>
            <a:off x="5938520" y="5279390"/>
            <a:ext cx="5942330" cy="1420574"/>
          </a:xfrm>
          <a:prstGeom prst="rect">
            <a:avLst/>
          </a:prstGeom>
          <a:noFill/>
        </p:spPr>
        <p:txBody>
          <a:bodyPr wrap="square" lIns="91440" tIns="45720" rIns="91440" bIns="45720" rtlCol="0" anchor="t">
            <a:spAutoFit/>
          </a:bodyPr>
          <a:lstStyle/>
          <a:p>
            <a:pPr>
              <a:lnSpc>
                <a:spcPct val="100000"/>
              </a:lnSpc>
            </a:pPr>
            <a:r>
              <a:rPr lang="en-US" sz="1600" dirty="0">
                <a:solidFill>
                  <a:srgbClr val="606C9A"/>
                </a:solidFill>
                <a:latin typeface="MiSans" pitchFamily="34" charset="-122"/>
                <a:ea typeface="MiSans" pitchFamily="34" charset="-122"/>
                <a:cs typeface="MiSans" pitchFamily="34" charset="-120"/>
              </a:rPr>
              <a:t>模式七至九：静态原子唤醒替代通用事件分发，固定唤醒目标场景下的最优选择；中断处理极简原则，全程只读标志寄存器、关闭中断、唤醒、返回；寄存器值缓存为原子变量，将读改写转化为单次写入。这三条模式聚焦中断延迟最小化和硬件访问效率，为后续I2C和SPI异步改进提供直接参考。</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7D5FC"/>
        </a:solidFill>
        <a:effectLst/>
      </p:bgPr>
    </p:bg>
    <p:spTree>
      <p:nvGrpSpPr>
        <p:cNvPr id="1" name=""/>
        <p:cNvGrpSpPr/>
        <p:nvPr/>
      </p:nvGrpSpPr>
      <p:grpSpPr>
        <a:xfrm>
          <a:off x="0" y="0"/>
          <a:ext cx="0" cy="0"/>
          <a:chOff x="0" y="0"/>
          <a:chExt cx="0" cy="0"/>
        </a:xfrm>
      </p:grpSpPr>
      <p:pic>
        <p:nvPicPr>
          <p:cNvPr id="2" name="Image 0" descr="https://kimi-img.moonshot.cn/pub/slides/slides_tmpl/image/25-08-27-20:04:45-d2nf8n98bjvh7rlj0aqg.jpeg"/>
          <p:cNvPicPr>
            <a:picLocks noChangeAspect="1"/>
          </p:cNvPicPr>
          <p:nvPr/>
        </p:nvPicPr>
        <p:blipFill>
          <a:blip r:embed="rId1"/>
          <a:stretch>
            <a:fillRect/>
          </a:stretch>
        </p:blipFill>
        <p:spPr>
          <a:xfrm>
            <a:off x="8677969" y="0"/>
            <a:ext cx="3690359" cy="6858000"/>
          </a:xfrm>
          <a:prstGeom prst="rect">
            <a:avLst/>
          </a:prstGeom>
        </p:spPr>
      </p:pic>
      <p:sp>
        <p:nvSpPr>
          <p:cNvPr id="3" name="Shape 0"/>
          <p:cNvSpPr/>
          <p:nvPr/>
        </p:nvSpPr>
        <p:spPr>
          <a:xfrm>
            <a:off x="1059579" y="605009"/>
            <a:ext cx="133350" cy="137160"/>
          </a:xfrm>
          <a:prstGeom prst="ellipse">
            <a:avLst/>
          </a:prstGeom>
          <a:solidFill>
            <a:srgbClr val="FFFFFF"/>
          </a:solidFill>
        </p:spPr>
      </p:sp>
      <p:sp>
        <p:nvSpPr>
          <p:cNvPr id="4" name="Shape 1"/>
          <p:cNvSpPr/>
          <p:nvPr/>
        </p:nvSpPr>
        <p:spPr>
          <a:xfrm>
            <a:off x="1259604" y="605009"/>
            <a:ext cx="133350" cy="137160"/>
          </a:xfrm>
          <a:prstGeom prst="ellipse">
            <a:avLst/>
          </a:prstGeom>
          <a:solidFill>
            <a:srgbClr val="FFFFFF"/>
          </a:solidFill>
        </p:spPr>
      </p:sp>
      <p:sp>
        <p:nvSpPr>
          <p:cNvPr id="5" name="Shape 2"/>
          <p:cNvSpPr/>
          <p:nvPr/>
        </p:nvSpPr>
        <p:spPr>
          <a:xfrm>
            <a:off x="1459629" y="605009"/>
            <a:ext cx="133350" cy="137160"/>
          </a:xfrm>
          <a:prstGeom prst="ellipse">
            <a:avLst/>
          </a:prstGeom>
          <a:solidFill>
            <a:srgbClr val="FFFFFF"/>
          </a:solidFill>
        </p:spPr>
      </p:sp>
      <p:sp>
        <p:nvSpPr>
          <p:cNvPr id="6" name="Shape 3"/>
          <p:cNvSpPr/>
          <p:nvPr/>
        </p:nvSpPr>
        <p:spPr>
          <a:xfrm>
            <a:off x="1659654" y="605009"/>
            <a:ext cx="133350" cy="137160"/>
          </a:xfrm>
          <a:prstGeom prst="ellipse">
            <a:avLst/>
          </a:prstGeom>
          <a:solidFill>
            <a:srgbClr val="FFFFFF"/>
          </a:solidFill>
        </p:spPr>
      </p:sp>
      <p:sp>
        <p:nvSpPr>
          <p:cNvPr id="7" name="Shape 4"/>
          <p:cNvSpPr/>
          <p:nvPr/>
        </p:nvSpPr>
        <p:spPr>
          <a:xfrm>
            <a:off x="856216" y="1345533"/>
            <a:ext cx="133350" cy="137160"/>
          </a:xfrm>
          <a:prstGeom prst="ellipse">
            <a:avLst/>
          </a:prstGeom>
          <a:solidFill>
            <a:srgbClr val="FFFFFF"/>
          </a:solidFill>
        </p:spPr>
      </p:sp>
      <p:sp>
        <p:nvSpPr>
          <p:cNvPr id="8" name="Shape 5"/>
          <p:cNvSpPr/>
          <p:nvPr/>
        </p:nvSpPr>
        <p:spPr>
          <a:xfrm>
            <a:off x="856216" y="1145507"/>
            <a:ext cx="133350" cy="137160"/>
          </a:xfrm>
          <a:prstGeom prst="ellipse">
            <a:avLst/>
          </a:prstGeom>
          <a:solidFill>
            <a:srgbClr val="FFFFFF"/>
          </a:solidFill>
        </p:spPr>
      </p:sp>
      <p:sp>
        <p:nvSpPr>
          <p:cNvPr id="9" name="Shape 6"/>
          <p:cNvSpPr/>
          <p:nvPr/>
        </p:nvSpPr>
        <p:spPr>
          <a:xfrm>
            <a:off x="856216" y="945482"/>
            <a:ext cx="133350" cy="137160"/>
          </a:xfrm>
          <a:prstGeom prst="ellipse">
            <a:avLst/>
          </a:prstGeom>
          <a:solidFill>
            <a:srgbClr val="FFFFFF"/>
          </a:solidFill>
        </p:spPr>
      </p:sp>
      <p:sp>
        <p:nvSpPr>
          <p:cNvPr id="10" name="Shape 7"/>
          <p:cNvSpPr/>
          <p:nvPr/>
        </p:nvSpPr>
        <p:spPr>
          <a:xfrm>
            <a:off x="856217" y="745458"/>
            <a:ext cx="133350" cy="137160"/>
          </a:xfrm>
          <a:prstGeom prst="ellipse">
            <a:avLst/>
          </a:prstGeom>
          <a:solidFill>
            <a:srgbClr val="FFFFFF"/>
          </a:solidFill>
        </p:spPr>
      </p:sp>
      <p:sp>
        <p:nvSpPr>
          <p:cNvPr id="11" name="Text 8"/>
          <p:cNvSpPr/>
          <p:nvPr/>
        </p:nvSpPr>
        <p:spPr>
          <a:xfrm>
            <a:off x="1108075" y="826770"/>
            <a:ext cx="6337935" cy="1462405"/>
          </a:xfrm>
          <a:prstGeom prst="rect">
            <a:avLst/>
          </a:prstGeom>
          <a:noFill/>
        </p:spPr>
        <p:txBody>
          <a:bodyPr wrap="square" lIns="91440" tIns="45720" rIns="91440" bIns="45720" rtlCol="0" anchor="t"/>
          <a:lstStyle/>
          <a:p>
            <a:pPr algn="just">
              <a:lnSpc>
                <a:spcPct val="100000"/>
              </a:lnSpc>
            </a:pPr>
            <a:r>
              <a:rPr lang="en-US" sz="2800" dirty="0">
                <a:solidFill>
                  <a:srgbClr val="606C9A"/>
                </a:solidFill>
                <a:latin typeface="MiSans" pitchFamily="34" charset="-122"/>
                <a:ea typeface="MiSans" pitchFamily="34" charset="-122"/>
                <a:cs typeface="MiSans" pitchFamily="34" charset="-120"/>
              </a:rPr>
              <a:t>后续方向与实习规划</a:t>
            </a:r>
            <a:endParaRPr lang="en-US" sz="1600" dirty="0"/>
          </a:p>
        </p:txBody>
      </p:sp>
      <p:sp>
        <p:nvSpPr>
          <p:cNvPr id="12" name="Shape 9"/>
          <p:cNvSpPr/>
          <p:nvPr/>
        </p:nvSpPr>
        <p:spPr>
          <a:xfrm>
            <a:off x="960070" y="1921539"/>
            <a:ext cx="228803" cy="212992"/>
          </a:xfrm>
          <a:prstGeom prst="ellipse">
            <a:avLst/>
          </a:prstGeom>
          <a:solidFill>
            <a:srgbClr val="000000">
              <a:alpha val="0"/>
            </a:srgbClr>
          </a:solidFill>
          <a:ln w="41275">
            <a:solidFill>
              <a:srgbClr val="FFFFFF"/>
            </a:solidFill>
            <a:prstDash val="solid"/>
          </a:ln>
        </p:spPr>
      </p:sp>
      <p:sp>
        <p:nvSpPr>
          <p:cNvPr id="13" name="Shape 10"/>
          <p:cNvSpPr/>
          <p:nvPr/>
        </p:nvSpPr>
        <p:spPr>
          <a:xfrm>
            <a:off x="1036469" y="1962077"/>
            <a:ext cx="137562" cy="131914"/>
          </a:xfrm>
          <a:prstGeom prst="ellipse">
            <a:avLst/>
          </a:prstGeom>
          <a:solidFill>
            <a:srgbClr val="C1CEF6"/>
          </a:solidFill>
        </p:spPr>
      </p:sp>
      <p:sp>
        <p:nvSpPr>
          <p:cNvPr id="14" name="Shape 11"/>
          <p:cNvSpPr/>
          <p:nvPr/>
        </p:nvSpPr>
        <p:spPr>
          <a:xfrm>
            <a:off x="678815" y="3482340"/>
            <a:ext cx="8752205" cy="1718945"/>
          </a:xfrm>
          <a:prstGeom prst="roundRect">
            <a:avLst>
              <a:gd name="adj" fmla="val 16667"/>
            </a:avLst>
          </a:prstGeom>
          <a:solidFill>
            <a:srgbClr val="F9F1DC"/>
          </a:solidFill>
          <a:effectLst>
            <a:outerShdw blurRad="647378" dist="50800" dir="2700000" algn="bl" rotWithShape="0">
              <a:srgbClr val="6D7ECC">
                <a:alpha val="45882"/>
              </a:srgbClr>
            </a:outerShdw>
          </a:effectLst>
        </p:spPr>
      </p:sp>
      <p:sp>
        <p:nvSpPr>
          <p:cNvPr id="15" name="Shape 12"/>
          <p:cNvSpPr/>
          <p:nvPr/>
        </p:nvSpPr>
        <p:spPr>
          <a:xfrm>
            <a:off x="938747" y="3724315"/>
            <a:ext cx="228803" cy="212992"/>
          </a:xfrm>
          <a:prstGeom prst="ellipse">
            <a:avLst/>
          </a:prstGeom>
          <a:solidFill>
            <a:srgbClr val="000000">
              <a:alpha val="0"/>
            </a:srgbClr>
          </a:solidFill>
          <a:ln w="41275">
            <a:solidFill>
              <a:srgbClr val="FFFFFF"/>
            </a:solidFill>
            <a:prstDash val="solid"/>
          </a:ln>
        </p:spPr>
      </p:sp>
      <p:sp>
        <p:nvSpPr>
          <p:cNvPr id="16" name="Shape 13"/>
          <p:cNvSpPr/>
          <p:nvPr/>
        </p:nvSpPr>
        <p:spPr>
          <a:xfrm>
            <a:off x="1015146" y="3764853"/>
            <a:ext cx="137562" cy="131914"/>
          </a:xfrm>
          <a:prstGeom prst="ellipse">
            <a:avLst/>
          </a:prstGeom>
          <a:solidFill>
            <a:srgbClr val="C1CEF6"/>
          </a:solidFill>
        </p:spPr>
      </p:sp>
      <p:sp>
        <p:nvSpPr>
          <p:cNvPr id="17" name="Shape 14"/>
          <p:cNvSpPr/>
          <p:nvPr/>
        </p:nvSpPr>
        <p:spPr>
          <a:xfrm>
            <a:off x="920117" y="5382943"/>
            <a:ext cx="228803" cy="212992"/>
          </a:xfrm>
          <a:prstGeom prst="ellipse">
            <a:avLst/>
          </a:prstGeom>
          <a:solidFill>
            <a:srgbClr val="000000">
              <a:alpha val="0"/>
            </a:srgbClr>
          </a:solidFill>
          <a:ln w="41275">
            <a:solidFill>
              <a:srgbClr val="FFFFFF"/>
            </a:solidFill>
            <a:prstDash val="solid"/>
          </a:ln>
        </p:spPr>
      </p:sp>
      <p:sp>
        <p:nvSpPr>
          <p:cNvPr id="18" name="Shape 15"/>
          <p:cNvSpPr/>
          <p:nvPr/>
        </p:nvSpPr>
        <p:spPr>
          <a:xfrm>
            <a:off x="996516" y="5423481"/>
            <a:ext cx="137562" cy="131914"/>
          </a:xfrm>
          <a:prstGeom prst="ellipse">
            <a:avLst/>
          </a:prstGeom>
          <a:solidFill>
            <a:srgbClr val="C1CEF6"/>
          </a:solidFill>
        </p:spPr>
      </p:sp>
      <p:pic>
        <p:nvPicPr>
          <p:cNvPr id="19" name="Image 1" descr="https://kimi-img.moonshot.cn/pub/slides/slides_tmpl/image/25-08-27-20:04:45-d2nf8n98bjvh7rlj0arg.jpeg"/>
          <p:cNvPicPr>
            <a:picLocks noChangeAspect="1"/>
          </p:cNvPicPr>
          <p:nvPr/>
        </p:nvPicPr>
        <p:blipFill>
          <a:blip r:embed="rId2"/>
          <a:stretch>
            <a:fillRect/>
          </a:stretch>
        </p:blipFill>
        <p:spPr>
          <a:xfrm>
            <a:off x="7800980" y="301521"/>
            <a:ext cx="1353928" cy="2102570"/>
          </a:xfrm>
          <a:prstGeom prst="rect">
            <a:avLst/>
          </a:prstGeom>
        </p:spPr>
      </p:pic>
      <p:sp>
        <p:nvSpPr>
          <p:cNvPr id="20" name="Text 16"/>
          <p:cNvSpPr/>
          <p:nvPr/>
        </p:nvSpPr>
        <p:spPr>
          <a:xfrm>
            <a:off x="1259604" y="1843553"/>
            <a:ext cx="6122428"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真实硬件验证与独立crate化</a:t>
            </a:r>
            <a:endParaRPr lang="en-US" sz="1600" dirty="0"/>
          </a:p>
        </p:txBody>
      </p:sp>
      <p:sp>
        <p:nvSpPr>
          <p:cNvPr id="21" name="Text 17"/>
          <p:cNvSpPr/>
          <p:nvPr/>
        </p:nvSpPr>
        <p:spPr>
          <a:xfrm>
            <a:off x="1074471" y="2403523"/>
            <a:ext cx="7418366" cy="852845"/>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后续首要方向是在真实RISC-V开发板上验证异步串口驱动，突破QEMU模拟器不仿真真实串口线速的限制，获取真实波特率约束下的性能数据。同时将异步串口驱动独立成crate，使其可被多个操作系统复用，降低后续维护成本并扩大影响力，完善驱动文档以降低接入门槛。</a:t>
            </a:r>
            <a:endParaRPr lang="en-US" sz="1600" dirty="0"/>
          </a:p>
        </p:txBody>
      </p:sp>
      <p:sp>
        <p:nvSpPr>
          <p:cNvPr id="22" name="Text 18"/>
          <p:cNvSpPr/>
          <p:nvPr/>
        </p:nvSpPr>
        <p:spPr>
          <a:xfrm>
            <a:off x="1280416" y="3667751"/>
            <a:ext cx="7871257"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I2C与SPI异步化探索</a:t>
            </a:r>
            <a:endParaRPr lang="en-US" sz="1600" dirty="0"/>
          </a:p>
        </p:txBody>
      </p:sp>
      <p:sp>
        <p:nvSpPr>
          <p:cNvPr id="23" name="Text 19"/>
          <p:cNvSpPr/>
          <p:nvPr/>
        </p:nvSpPr>
        <p:spPr>
          <a:xfrm>
            <a:off x="1136772" y="4107808"/>
            <a:ext cx="8018136" cy="852845"/>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探索I2C和SPI驱动的异步化改进可能性，将本阶段验证的九条设计模式推广至更多总线型设备驱动。调研并分析尤予阳相关工作的技术路线，对比不同实现方案在RISC-V平台上的适用性，为StarryOS构建统一的异步设备驱动框架提供技术储备。</a:t>
            </a:r>
            <a:endParaRPr lang="en-US" sz="1600" dirty="0"/>
          </a:p>
        </p:txBody>
      </p:sp>
      <p:sp>
        <p:nvSpPr>
          <p:cNvPr id="24" name="Text 20"/>
          <p:cNvSpPr/>
          <p:nvPr/>
        </p:nvSpPr>
        <p:spPr>
          <a:xfrm>
            <a:off x="1219651" y="5304957"/>
            <a:ext cx="7273186" cy="372428"/>
          </a:xfrm>
          <a:prstGeom prst="rect">
            <a:avLst/>
          </a:prstGeom>
          <a:noFill/>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122"/>
                <a:ea typeface="MiSans" pitchFamily="34" charset="-122"/>
                <a:cs typeface="MiSans" pitchFamily="34" charset="-120"/>
              </a:rPr>
              <a:t>训练营阶段整体回顾与方法论总结</a:t>
            </a:r>
            <a:endParaRPr lang="en-US" sz="1600" dirty="0"/>
          </a:p>
        </p:txBody>
      </p:sp>
      <p:sp>
        <p:nvSpPr>
          <p:cNvPr id="25" name="Text 21"/>
          <p:cNvSpPr/>
          <p:nvPr/>
        </p:nvSpPr>
        <p:spPr>
          <a:xfrm>
            <a:off x="1066564" y="5595631"/>
            <a:ext cx="7433258" cy="1375331"/>
          </a:xfrm>
          <a:prstGeom prst="rect">
            <a:avLst/>
          </a:prstGeom>
          <a:noFill/>
        </p:spPr>
        <p:txBody>
          <a:bodyPr wrap="square" lIns="91440" tIns="45720" rIns="91440" bIns="45720" rtlCol="0" anchor="ctr">
            <a:spAutoFit/>
          </a:bodyPr>
          <a:lstStyle/>
          <a:p>
            <a:pPr>
              <a:lnSpc>
                <a:spcPct val="100000"/>
              </a:lnSpc>
            </a:pPr>
            <a:r>
              <a:rPr lang="en-US" sz="1400" dirty="0">
                <a:solidFill>
                  <a:srgbClr val="606C9A"/>
                </a:solidFill>
                <a:latin typeface="MiSans" pitchFamily="34" charset="-122"/>
                <a:ea typeface="MiSans" pitchFamily="34" charset="-122"/>
                <a:cs typeface="MiSans" pitchFamily="34" charset="-120"/>
              </a:rPr>
              <a:t>从硬件寄存器验证到用户态Shell完整异步交互，全栈贯通，所有训练营阶段可独立完成的目标均已达成。核心指标CPU占用效率14.3倍提升、唤醒延迟4倍提升、单字节延迟峰值下降19%、软件开销峰值下降40%。建立从架构决策、踩坑档案、优化条目到反优化判定的完整知识沉淀体系，所有重大方向选择均有可追溯记录，优化均有量化收益，被否决方案均有明确理由，三条工程原则贯穿全程并被验证有效。</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1DC"/>
        </a:solidFill>
        <a:effectLst/>
      </p:bgPr>
    </p:bg>
    <p:spTree>
      <p:nvGrpSpPr>
        <p:cNvPr id="1" name=""/>
        <p:cNvGrpSpPr/>
        <p:nvPr/>
      </p:nvGrpSpPr>
      <p:grpSpPr>
        <a:xfrm>
          <a:off x="0" y="0"/>
          <a:ext cx="0" cy="0"/>
          <a:chOff x="0" y="0"/>
          <a:chExt cx="0" cy="0"/>
        </a:xfrm>
      </p:grpSpPr>
      <p:pic>
        <p:nvPicPr>
          <p:cNvPr id="2" name="Image 0" descr="https://kimi-img.moonshot.cn/pub/slides/slides_tmpl/image/25-08-27-20:04:37-d2nf8l98bjvh7rlj0ad0.jpg"/>
          <p:cNvPicPr>
            <a:picLocks noChangeAspect="1"/>
          </p:cNvPicPr>
          <p:nvPr/>
        </p:nvPicPr>
        <p:blipFill>
          <a:blip r:embed="rId1"/>
          <a:stretch>
            <a:fillRect/>
          </a:stretch>
        </p:blipFill>
        <p:spPr>
          <a:xfrm>
            <a:off x="0" y="-20003"/>
            <a:ext cx="12263122" cy="6898006"/>
          </a:xfrm>
          <a:prstGeom prst="rect">
            <a:avLst/>
          </a:prstGeom>
        </p:spPr>
      </p:pic>
      <p:sp>
        <p:nvSpPr>
          <p:cNvPr id="3" name="Text 0"/>
          <p:cNvSpPr/>
          <p:nvPr/>
        </p:nvSpPr>
        <p:spPr>
          <a:xfrm>
            <a:off x="3063240" y="2428723"/>
            <a:ext cx="6295390" cy="1748790"/>
          </a:xfrm>
          <a:prstGeom prst="rect">
            <a:avLst/>
          </a:prstGeom>
          <a:noFill/>
        </p:spPr>
        <p:txBody>
          <a:bodyPr wrap="square" lIns="91440" tIns="45720" rIns="91440" bIns="45720" rtlCol="0" anchor="t">
            <a:spAutoFit/>
          </a:bodyPr>
          <a:lstStyle/>
          <a:p>
            <a:pPr>
              <a:lnSpc>
                <a:spcPct val="100000"/>
              </a:lnSpc>
            </a:pPr>
            <a:r>
              <a:rPr lang="en-US" sz="9600" b="1" dirty="0">
                <a:solidFill>
                  <a:srgbClr val="FFFFFF"/>
                </a:solidFill>
                <a:latin typeface="MiSans" pitchFamily="34" charset="-122"/>
                <a:ea typeface="MiSans" pitchFamily="34" charset="-122"/>
                <a:cs typeface="MiSans" pitchFamily="34" charset="-120"/>
              </a:rPr>
              <a:t>Thank You</a:t>
            </a:r>
            <a:endParaRPr lang="en-US" sz="1600" dirty="0"/>
          </a:p>
          <a:p>
            <a:pPr>
              <a:lnSpc>
                <a:spcPct val="100000"/>
              </a:lnSpc>
            </a:pPr>
            <a:r>
              <a:rPr lang="en-US" sz="1800" dirty="0">
                <a:solidFill>
                  <a:srgbClr val="000000"/>
                </a:solidFill>
                <a:latin typeface="MiSans" pitchFamily="34" charset="-122"/>
                <a:ea typeface="MiSans" pitchFamily="34" charset="-122"/>
                <a:cs typeface="MiSans" pitchFamily="34" charset="-120"/>
              </a:rPr>
              <a:t> </a:t>
            </a:r>
            <a:endParaRPr lang="en-US" sz="1600" dirty="0"/>
          </a:p>
        </p:txBody>
      </p:sp>
      <p:sp>
        <p:nvSpPr>
          <p:cNvPr id="4" name="Text 1"/>
          <p:cNvSpPr/>
          <p:nvPr/>
        </p:nvSpPr>
        <p:spPr>
          <a:xfrm>
            <a:off x="7235190" y="4391660"/>
            <a:ext cx="4064000" cy="266065"/>
          </a:xfrm>
          <a:prstGeom prst="rect">
            <a:avLst/>
          </a:prstGeom>
          <a:noFill/>
        </p:spPr>
        <p:txBody>
          <a:bodyPr wrap="square" lIns="91440" tIns="45720" rIns="91440" bIns="45720" rtlCol="0" anchor="t">
            <a:spAutoFit/>
          </a:bodyPr>
          <a:lstStyle/>
          <a:p>
            <a:pPr>
              <a:lnSpc>
                <a:spcPct val="100000"/>
              </a:lnSpc>
            </a:pPr>
            <a:r>
              <a:rPr lang="en-US" sz="1800" dirty="0">
                <a:solidFill>
                  <a:srgbClr val="000000"/>
                </a:solidFill>
                <a:latin typeface="MiSans" pitchFamily="34" charset="-122"/>
                <a:ea typeface="MiSans" pitchFamily="34" charset="-122"/>
                <a:cs typeface="MiSans" pitchFamily="34" charset="-120"/>
              </a:rPr>
              <a:t> </a:t>
            </a:r>
            <a:endParaRPr lang="en-US" sz="1600" dirty="0"/>
          </a:p>
        </p:txBody>
      </p:sp>
      <p:sp>
        <p:nvSpPr>
          <p:cNvPr id="5" name="Shape 2"/>
          <p:cNvSpPr/>
          <p:nvPr/>
        </p:nvSpPr>
        <p:spPr>
          <a:xfrm>
            <a:off x="8414347" y="6381115"/>
            <a:ext cx="133350" cy="137160"/>
          </a:xfrm>
          <a:prstGeom prst="ellipse">
            <a:avLst/>
          </a:prstGeom>
          <a:solidFill>
            <a:srgbClr val="FFFFFF"/>
          </a:solidFill>
        </p:spPr>
      </p:sp>
      <p:sp>
        <p:nvSpPr>
          <p:cNvPr id="6" name="Shape 3"/>
          <p:cNvSpPr/>
          <p:nvPr/>
        </p:nvSpPr>
        <p:spPr>
          <a:xfrm>
            <a:off x="8614372" y="6381115"/>
            <a:ext cx="133350" cy="137160"/>
          </a:xfrm>
          <a:prstGeom prst="ellipse">
            <a:avLst/>
          </a:prstGeom>
          <a:solidFill>
            <a:srgbClr val="FFFFFF"/>
          </a:solidFill>
        </p:spPr>
      </p:sp>
      <p:sp>
        <p:nvSpPr>
          <p:cNvPr id="7" name="Shape 4"/>
          <p:cNvSpPr/>
          <p:nvPr/>
        </p:nvSpPr>
        <p:spPr>
          <a:xfrm>
            <a:off x="8814397" y="6381115"/>
            <a:ext cx="133350" cy="137160"/>
          </a:xfrm>
          <a:prstGeom prst="ellipse">
            <a:avLst/>
          </a:prstGeom>
          <a:solidFill>
            <a:srgbClr val="FFFFFF"/>
          </a:solidFill>
        </p:spPr>
      </p:sp>
      <p:sp>
        <p:nvSpPr>
          <p:cNvPr id="8" name="Shape 5"/>
          <p:cNvSpPr/>
          <p:nvPr/>
        </p:nvSpPr>
        <p:spPr>
          <a:xfrm>
            <a:off x="9014422" y="6381115"/>
            <a:ext cx="133350" cy="137160"/>
          </a:xfrm>
          <a:prstGeom prst="ellipse">
            <a:avLst/>
          </a:prstGeom>
          <a:solidFill>
            <a:srgbClr val="FFFFFF"/>
          </a:solidFill>
        </p:spPr>
      </p:sp>
      <p:sp>
        <p:nvSpPr>
          <p:cNvPr id="9" name="Shape 6"/>
          <p:cNvSpPr/>
          <p:nvPr/>
        </p:nvSpPr>
        <p:spPr>
          <a:xfrm>
            <a:off x="1238250" y="789940"/>
            <a:ext cx="133350" cy="137160"/>
          </a:xfrm>
          <a:prstGeom prst="ellipse">
            <a:avLst/>
          </a:prstGeom>
          <a:solidFill>
            <a:srgbClr val="FFFFFF"/>
          </a:solidFill>
        </p:spPr>
      </p:sp>
      <p:sp>
        <p:nvSpPr>
          <p:cNvPr id="10" name="Shape 7"/>
          <p:cNvSpPr/>
          <p:nvPr/>
        </p:nvSpPr>
        <p:spPr>
          <a:xfrm>
            <a:off x="1438275" y="789940"/>
            <a:ext cx="133350" cy="137160"/>
          </a:xfrm>
          <a:prstGeom prst="ellipse">
            <a:avLst/>
          </a:prstGeom>
          <a:solidFill>
            <a:srgbClr val="FFFFFF"/>
          </a:solidFill>
        </p:spPr>
      </p:sp>
      <p:sp>
        <p:nvSpPr>
          <p:cNvPr id="11" name="Shape 8"/>
          <p:cNvSpPr/>
          <p:nvPr/>
        </p:nvSpPr>
        <p:spPr>
          <a:xfrm>
            <a:off x="1638300" y="789940"/>
            <a:ext cx="133350" cy="137160"/>
          </a:xfrm>
          <a:prstGeom prst="ellipse">
            <a:avLst/>
          </a:prstGeom>
          <a:solidFill>
            <a:srgbClr val="FFFFFF"/>
          </a:solidFill>
        </p:spPr>
      </p:sp>
      <p:sp>
        <p:nvSpPr>
          <p:cNvPr id="12" name="Shape 9"/>
          <p:cNvSpPr/>
          <p:nvPr/>
        </p:nvSpPr>
        <p:spPr>
          <a:xfrm>
            <a:off x="1838325" y="789940"/>
            <a:ext cx="133350" cy="137160"/>
          </a:xfrm>
          <a:prstGeom prst="ellipse">
            <a:avLst/>
          </a:prstGeom>
          <a:solidFill>
            <a:srgbClr val="FFFFFF"/>
          </a:solidFill>
        </p:spPr>
      </p:sp>
      <p:pic>
        <p:nvPicPr>
          <p:cNvPr id="15" name="Image 1" descr="https://kimi-img.moonshot.cn/pub/slides/slides_tmpl/image/25-08-27-20:04:32-d2nf8k18bjvh7rlj0a60.png"/>
          <p:cNvPicPr>
            <a:picLocks noChangeAspect="1"/>
          </p:cNvPicPr>
          <p:nvPr/>
        </p:nvPicPr>
        <p:blipFill>
          <a:blip r:embed="rId2"/>
          <a:stretch>
            <a:fillRect/>
          </a:stretch>
        </p:blipFill>
        <p:spPr>
          <a:xfrm>
            <a:off x="1311275" y="3907257"/>
            <a:ext cx="1320800" cy="1371600"/>
          </a:xfrm>
          <a:prstGeom prst="rect">
            <a:avLst/>
          </a:prstGeom>
        </p:spPr>
      </p:pic>
      <p:pic>
        <p:nvPicPr>
          <p:cNvPr id="16" name="Image 2" descr="https://kimi-img.moonshot.cn/pub/slides/slides_tmpl/image/25-08-27-20:04:32-d2nf8k18bjvh7rlj0a6g.png"/>
          <p:cNvPicPr>
            <a:picLocks noChangeAspect="1"/>
          </p:cNvPicPr>
          <p:nvPr/>
        </p:nvPicPr>
        <p:blipFill>
          <a:blip r:embed="rId3"/>
          <a:stretch>
            <a:fillRect/>
          </a:stretch>
        </p:blipFill>
        <p:spPr>
          <a:xfrm>
            <a:off x="10570172" y="1111250"/>
            <a:ext cx="983056" cy="907962"/>
          </a:xfrm>
          <a:prstGeom prst="rect">
            <a:avLst/>
          </a:prstGeom>
        </p:spPr>
      </p:pic>
      <p:sp>
        <p:nvSpPr>
          <p:cNvPr id="17" name="Shape 12"/>
          <p:cNvSpPr/>
          <p:nvPr/>
        </p:nvSpPr>
        <p:spPr>
          <a:xfrm>
            <a:off x="1101725" y="3958057"/>
            <a:ext cx="539750" cy="508001"/>
          </a:xfrm>
          <a:prstGeom prst="ellipse">
            <a:avLst/>
          </a:prstGeom>
          <a:solidFill>
            <a:srgbClr val="B2C4FF"/>
          </a:solidFill>
        </p:spPr>
      </p:sp>
      <p:pic>
        <p:nvPicPr>
          <p:cNvPr id="18" name="Image 3" descr="https://kimi-img.moonshot.cn/pub/slides/slides_tmpl/image/25-08-27-20:04:32-d2nf8k18bjvh7rlj0a60.png"/>
          <p:cNvPicPr>
            <a:picLocks noChangeAspect="1"/>
          </p:cNvPicPr>
          <p:nvPr/>
        </p:nvPicPr>
        <p:blipFill>
          <a:blip r:embed="rId2"/>
          <a:stretch>
            <a:fillRect/>
          </a:stretch>
        </p:blipFill>
        <p:spPr>
          <a:xfrm>
            <a:off x="11187651" y="1515914"/>
            <a:ext cx="731154" cy="676035"/>
          </a:xfrm>
          <a:prstGeom prst="rect">
            <a:avLst/>
          </a:prstGeom>
        </p:spPr>
      </p:pic>
      <p:sp>
        <p:nvSpPr>
          <p:cNvPr id="19" name="Shape 13"/>
          <p:cNvSpPr/>
          <p:nvPr/>
        </p:nvSpPr>
        <p:spPr>
          <a:xfrm>
            <a:off x="10565765" y="5609590"/>
            <a:ext cx="133350" cy="137160"/>
          </a:xfrm>
          <a:prstGeom prst="ellipse">
            <a:avLst/>
          </a:prstGeom>
          <a:solidFill>
            <a:srgbClr val="FFFFFF"/>
          </a:solidFill>
        </p:spPr>
      </p:sp>
      <p:sp>
        <p:nvSpPr>
          <p:cNvPr id="20" name="Shape 14"/>
          <p:cNvSpPr/>
          <p:nvPr/>
        </p:nvSpPr>
        <p:spPr>
          <a:xfrm>
            <a:off x="10765790" y="5609590"/>
            <a:ext cx="133350" cy="137160"/>
          </a:xfrm>
          <a:prstGeom prst="ellipse">
            <a:avLst/>
          </a:prstGeom>
          <a:solidFill>
            <a:srgbClr val="FFFFFF"/>
          </a:solidFill>
        </p:spPr>
      </p:sp>
      <p:sp>
        <p:nvSpPr>
          <p:cNvPr id="21" name="Shape 15"/>
          <p:cNvSpPr/>
          <p:nvPr/>
        </p:nvSpPr>
        <p:spPr>
          <a:xfrm>
            <a:off x="10965815" y="5609590"/>
            <a:ext cx="133350" cy="137160"/>
          </a:xfrm>
          <a:prstGeom prst="ellipse">
            <a:avLst/>
          </a:prstGeom>
          <a:solidFill>
            <a:srgbClr val="FFFFFF"/>
          </a:solidFill>
        </p:spPr>
      </p:sp>
      <p:sp>
        <p:nvSpPr>
          <p:cNvPr id="22" name="Shape 16"/>
          <p:cNvSpPr/>
          <p:nvPr/>
        </p:nvSpPr>
        <p:spPr>
          <a:xfrm>
            <a:off x="11165840" y="5609590"/>
            <a:ext cx="133350" cy="137160"/>
          </a:xfrm>
          <a:prstGeom prst="ellipse">
            <a:avLst/>
          </a:prstGeom>
          <a:solidFill>
            <a:srgbClr val="FFFFFF"/>
          </a:solidFill>
        </p:spPr>
      </p:sp>
      <p:sp>
        <p:nvSpPr>
          <p:cNvPr id="23" name="Shape 17"/>
          <p:cNvSpPr/>
          <p:nvPr/>
        </p:nvSpPr>
        <p:spPr>
          <a:xfrm>
            <a:off x="523388" y="5746751"/>
            <a:ext cx="133350" cy="137160"/>
          </a:xfrm>
          <a:prstGeom prst="ellipse">
            <a:avLst/>
          </a:prstGeom>
          <a:solidFill>
            <a:srgbClr val="FFFFFF"/>
          </a:solidFill>
        </p:spPr>
      </p:sp>
      <p:sp>
        <p:nvSpPr>
          <p:cNvPr id="24" name="Shape 18"/>
          <p:cNvSpPr/>
          <p:nvPr/>
        </p:nvSpPr>
        <p:spPr>
          <a:xfrm>
            <a:off x="523388" y="5546725"/>
            <a:ext cx="133350" cy="137160"/>
          </a:xfrm>
          <a:prstGeom prst="ellipse">
            <a:avLst/>
          </a:prstGeom>
          <a:solidFill>
            <a:srgbClr val="FFFFFF"/>
          </a:solidFill>
        </p:spPr>
      </p:sp>
      <p:sp>
        <p:nvSpPr>
          <p:cNvPr id="25" name="Shape 19"/>
          <p:cNvSpPr/>
          <p:nvPr/>
        </p:nvSpPr>
        <p:spPr>
          <a:xfrm>
            <a:off x="523388" y="5346700"/>
            <a:ext cx="133350" cy="137160"/>
          </a:xfrm>
          <a:prstGeom prst="ellipse">
            <a:avLst/>
          </a:prstGeom>
          <a:solidFill>
            <a:srgbClr val="FFFFFF"/>
          </a:solidFill>
        </p:spPr>
      </p:sp>
      <p:sp>
        <p:nvSpPr>
          <p:cNvPr id="26" name="Shape 20"/>
          <p:cNvSpPr/>
          <p:nvPr/>
        </p:nvSpPr>
        <p:spPr>
          <a:xfrm>
            <a:off x="523388" y="5146676"/>
            <a:ext cx="133350" cy="137160"/>
          </a:xfrm>
          <a:prstGeom prst="ellipse">
            <a:avLst/>
          </a:prstGeom>
          <a:solidFill>
            <a:srgbClr val="FFFFFF"/>
          </a:solidFill>
        </p:spPr>
      </p:sp>
      <p:sp>
        <p:nvSpPr>
          <p:cNvPr id="27" name="Shape 21"/>
          <p:cNvSpPr/>
          <p:nvPr/>
        </p:nvSpPr>
        <p:spPr>
          <a:xfrm>
            <a:off x="523388" y="6539866"/>
            <a:ext cx="133350" cy="137160"/>
          </a:xfrm>
          <a:prstGeom prst="ellipse">
            <a:avLst/>
          </a:prstGeom>
          <a:solidFill>
            <a:srgbClr val="FFFFFF"/>
          </a:solidFill>
        </p:spPr>
      </p:sp>
      <p:sp>
        <p:nvSpPr>
          <p:cNvPr id="28" name="Shape 22"/>
          <p:cNvSpPr/>
          <p:nvPr/>
        </p:nvSpPr>
        <p:spPr>
          <a:xfrm>
            <a:off x="523388" y="6339841"/>
            <a:ext cx="133350" cy="137160"/>
          </a:xfrm>
          <a:prstGeom prst="ellipse">
            <a:avLst/>
          </a:prstGeom>
          <a:solidFill>
            <a:srgbClr val="FFFFFF"/>
          </a:solidFill>
        </p:spPr>
      </p:sp>
      <p:sp>
        <p:nvSpPr>
          <p:cNvPr id="29" name="Shape 23"/>
          <p:cNvSpPr/>
          <p:nvPr/>
        </p:nvSpPr>
        <p:spPr>
          <a:xfrm>
            <a:off x="523388" y="6139816"/>
            <a:ext cx="133350" cy="137160"/>
          </a:xfrm>
          <a:prstGeom prst="ellipse">
            <a:avLst/>
          </a:prstGeom>
          <a:solidFill>
            <a:srgbClr val="FFFFFF"/>
          </a:solidFill>
        </p:spPr>
      </p:sp>
      <p:sp>
        <p:nvSpPr>
          <p:cNvPr id="30" name="Shape 24"/>
          <p:cNvSpPr/>
          <p:nvPr/>
        </p:nvSpPr>
        <p:spPr>
          <a:xfrm>
            <a:off x="523388" y="5939792"/>
            <a:ext cx="133350" cy="137160"/>
          </a:xfrm>
          <a:prstGeom prst="ellipse">
            <a:avLst/>
          </a:prstGeom>
          <a:solidFill>
            <a:srgbClr val="FFFFFF"/>
          </a:solidFill>
        </p:spPr>
      </p:sp>
      <p:sp>
        <p:nvSpPr>
          <p:cNvPr id="31" name="Shape 25"/>
          <p:cNvSpPr/>
          <p:nvPr/>
        </p:nvSpPr>
        <p:spPr>
          <a:xfrm>
            <a:off x="11468678" y="3041866"/>
            <a:ext cx="133350" cy="137160"/>
          </a:xfrm>
          <a:prstGeom prst="ellipse">
            <a:avLst/>
          </a:prstGeom>
          <a:solidFill>
            <a:srgbClr val="FFFFFF"/>
          </a:solidFill>
        </p:spPr>
      </p:sp>
      <p:sp>
        <p:nvSpPr>
          <p:cNvPr id="32" name="Shape 26"/>
          <p:cNvSpPr/>
          <p:nvPr/>
        </p:nvSpPr>
        <p:spPr>
          <a:xfrm>
            <a:off x="11468678" y="2841841"/>
            <a:ext cx="133350" cy="137160"/>
          </a:xfrm>
          <a:prstGeom prst="ellipse">
            <a:avLst/>
          </a:prstGeom>
          <a:solidFill>
            <a:srgbClr val="FFFFFF"/>
          </a:solidFill>
        </p:spPr>
      </p:sp>
      <p:sp>
        <p:nvSpPr>
          <p:cNvPr id="33" name="Shape 27"/>
          <p:cNvSpPr/>
          <p:nvPr/>
        </p:nvSpPr>
        <p:spPr>
          <a:xfrm>
            <a:off x="11468678" y="2641816"/>
            <a:ext cx="133350" cy="137160"/>
          </a:xfrm>
          <a:prstGeom prst="ellipse">
            <a:avLst/>
          </a:prstGeom>
          <a:solidFill>
            <a:srgbClr val="FFFFFF"/>
          </a:solidFill>
        </p:spPr>
      </p:sp>
      <p:sp>
        <p:nvSpPr>
          <p:cNvPr id="34" name="Shape 28"/>
          <p:cNvSpPr/>
          <p:nvPr/>
        </p:nvSpPr>
        <p:spPr>
          <a:xfrm>
            <a:off x="11468678" y="2441792"/>
            <a:ext cx="133350" cy="137160"/>
          </a:xfrm>
          <a:prstGeom prst="ellipse">
            <a:avLst/>
          </a:prstGeom>
          <a:solidFill>
            <a:srgbClr val="FFFFFF"/>
          </a:solidFill>
        </p:spPr>
      </p:sp>
      <p:sp>
        <p:nvSpPr>
          <p:cNvPr id="35" name="Shape 29"/>
          <p:cNvSpPr/>
          <p:nvPr/>
        </p:nvSpPr>
        <p:spPr>
          <a:xfrm>
            <a:off x="11468678" y="3834983"/>
            <a:ext cx="133350" cy="137160"/>
          </a:xfrm>
          <a:prstGeom prst="ellipse">
            <a:avLst/>
          </a:prstGeom>
          <a:solidFill>
            <a:srgbClr val="FFFFFF"/>
          </a:solidFill>
        </p:spPr>
      </p:sp>
      <p:sp>
        <p:nvSpPr>
          <p:cNvPr id="36" name="Shape 30"/>
          <p:cNvSpPr/>
          <p:nvPr/>
        </p:nvSpPr>
        <p:spPr>
          <a:xfrm>
            <a:off x="11468678" y="3634957"/>
            <a:ext cx="133350" cy="137160"/>
          </a:xfrm>
          <a:prstGeom prst="ellipse">
            <a:avLst/>
          </a:prstGeom>
          <a:solidFill>
            <a:srgbClr val="FFFFFF"/>
          </a:solidFill>
        </p:spPr>
      </p:sp>
      <p:sp>
        <p:nvSpPr>
          <p:cNvPr id="37" name="Shape 31"/>
          <p:cNvSpPr/>
          <p:nvPr/>
        </p:nvSpPr>
        <p:spPr>
          <a:xfrm>
            <a:off x="11468678" y="3434932"/>
            <a:ext cx="133350" cy="137160"/>
          </a:xfrm>
          <a:prstGeom prst="ellipse">
            <a:avLst/>
          </a:prstGeom>
          <a:solidFill>
            <a:srgbClr val="FFFFFF"/>
          </a:solidFill>
        </p:spPr>
      </p:sp>
      <p:sp>
        <p:nvSpPr>
          <p:cNvPr id="38" name="Shape 32"/>
          <p:cNvSpPr/>
          <p:nvPr/>
        </p:nvSpPr>
        <p:spPr>
          <a:xfrm>
            <a:off x="11468678" y="3234908"/>
            <a:ext cx="133350" cy="137160"/>
          </a:xfrm>
          <a:prstGeom prst="ellipse">
            <a:avLst/>
          </a:prstGeom>
          <a:solidFill>
            <a:srgbClr val="FFFFFF"/>
          </a:solidFill>
        </p:spPr>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4455</Words>
  <Application>WPS 演示</Application>
  <PresentationFormat>On-screen Show (16:9)</PresentationFormat>
  <Paragraphs>191</Paragraphs>
  <Slides>18</Slides>
  <Notes>18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MiSans</vt:lpstr>
      <vt:lpstr>MiSans</vt:lpstr>
      <vt:lpstr>Calibri</vt:lpstr>
      <vt:lpstr>微软雅黑</vt:lpstr>
      <vt:lpstr>Arial Unicode MS</vt:lpstr>
      <vt:lpstr>等线</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异步串口驱动训练营总结</dc:title>
  <dc:creator>Kimi</dc:creator>
  <dc:subject>异步串口驱动训练营总结</dc:subject>
  <cp:lastModifiedBy>函数让人死亡</cp:lastModifiedBy>
  <cp:revision>3</cp:revision>
  <dcterms:created xsi:type="dcterms:W3CDTF">2026-06-12T04:53:00Z</dcterms:created>
  <dcterms:modified xsi:type="dcterms:W3CDTF">2026-06-12T04:58:34Z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异步串口驱动训练营总结","ContentProducer":"001191110108MACG2KBH8F10000","ProduceID":"19eba2a6-b102-8859-8000-000082e30b08","ReservedCode1":"","ContentPropagator":"001191110108MACG2KBH8F20000","PropagateID":"19eba2a6-b102-8859-8000-000082e30b08","ReservedCode2":""}</vt:lpwstr>
  </property>
  <property fmtid="{D5CDD505-2E9C-101B-9397-08002B2CF9AE}" pid="3" name="KSOProductBuildVer">
    <vt:lpwstr>2052-11.1.0.10009</vt:lpwstr>
  </property>
</Properties>
</file>